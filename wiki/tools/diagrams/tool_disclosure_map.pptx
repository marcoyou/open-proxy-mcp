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46304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64592"/>
            <a:ext cx="1371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1E1D"/>
                </a:solidFill>
                <a:latin typeface="Malgun Gothic"/>
              </a:rPr>
              <a:t>OpenProxy MCP — 공시 → 데이터 → Tool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315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C5A38"/>
                </a:solidFill>
                <a:latin typeface="Malgun Gothic"/>
              </a:rPr>
              <a:t>① 공시 타입 (5)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731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5E7388"/>
                </a:solidFill>
                <a:latin typeface="Malgun Gothic"/>
              </a:rPr>
              <a:t>② 공시 이름 (21)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0" y="7315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6E7E50"/>
                </a:solidFill>
                <a:latin typeface="Malgun Gothic"/>
              </a:rPr>
              <a:t>③ 추출 데이터 (27)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73152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A87F3C"/>
                </a:solidFill>
                <a:latin typeface="Malgun Gothic"/>
              </a:rPr>
              <a:t>④ Tool · 역할 (17)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2103120" y="1371600"/>
            <a:ext cx="365760" cy="585215"/>
          </a:xfrm>
          <a:prstGeom prst="line">
            <a:avLst/>
          </a:prstGeom>
          <a:ln w="9525">
            <a:solidFill>
              <a:srgbClr val="CC785C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2103120" y="1737360"/>
            <a:ext cx="365760" cy="1755647"/>
          </a:xfrm>
          <a:prstGeom prst="line">
            <a:avLst/>
          </a:prstGeom>
          <a:ln w="9525">
            <a:solidFill>
              <a:srgbClr val="CC785C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2103120" y="2103120"/>
            <a:ext cx="365760" cy="1389887"/>
          </a:xfrm>
          <a:prstGeom prst="line">
            <a:avLst/>
          </a:prstGeom>
          <a:ln w="9525">
            <a:solidFill>
              <a:srgbClr val="CC785C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2103120" y="2468879"/>
            <a:ext cx="365760" cy="1024128"/>
          </a:xfrm>
          <a:prstGeom prst="line">
            <a:avLst/>
          </a:prstGeom>
          <a:ln w="9525">
            <a:solidFill>
              <a:srgbClr val="CC785C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103120" y="2834639"/>
            <a:ext cx="365760" cy="658368"/>
          </a:xfrm>
          <a:prstGeom prst="line">
            <a:avLst/>
          </a:prstGeom>
          <a:ln w="9525">
            <a:solidFill>
              <a:srgbClr val="CC785C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2103120" y="3200399"/>
            <a:ext cx="365760" cy="292608"/>
          </a:xfrm>
          <a:prstGeom prst="line">
            <a:avLst/>
          </a:prstGeom>
          <a:ln w="9525">
            <a:solidFill>
              <a:srgbClr val="CC785C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2103120" y="3566159"/>
            <a:ext cx="365760" cy="1463040"/>
          </a:xfrm>
          <a:prstGeom prst="line">
            <a:avLst/>
          </a:prstGeom>
          <a:ln w="9525">
            <a:solidFill>
              <a:srgbClr val="CC785C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103120" y="3931919"/>
            <a:ext cx="365760" cy="1097280"/>
          </a:xfrm>
          <a:prstGeom prst="line">
            <a:avLst/>
          </a:prstGeom>
          <a:ln w="9525">
            <a:solidFill>
              <a:srgbClr val="CC785C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2103120" y="4297679"/>
            <a:ext cx="365760" cy="731520"/>
          </a:xfrm>
          <a:prstGeom prst="line">
            <a:avLst/>
          </a:prstGeom>
          <a:ln w="9525">
            <a:solidFill>
              <a:srgbClr val="CC785C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2103120" y="4663440"/>
            <a:ext cx="365760" cy="365759"/>
          </a:xfrm>
          <a:prstGeom prst="line">
            <a:avLst/>
          </a:prstGeom>
          <a:ln w="9525">
            <a:solidFill>
              <a:srgbClr val="CC785C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103120" y="5029199"/>
            <a:ext cx="365760" cy="0"/>
          </a:xfrm>
          <a:prstGeom prst="line">
            <a:avLst/>
          </a:prstGeom>
          <a:ln w="9525">
            <a:solidFill>
              <a:srgbClr val="CC785C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103120" y="5029199"/>
            <a:ext cx="365760" cy="365760"/>
          </a:xfrm>
          <a:prstGeom prst="line">
            <a:avLst/>
          </a:prstGeom>
          <a:ln w="9525">
            <a:solidFill>
              <a:srgbClr val="CC785C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103120" y="5029199"/>
            <a:ext cx="365760" cy="731520"/>
          </a:xfrm>
          <a:prstGeom prst="line">
            <a:avLst/>
          </a:prstGeom>
          <a:ln w="9525">
            <a:solidFill>
              <a:srgbClr val="CC785C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103120" y="5029199"/>
            <a:ext cx="365760" cy="1097280"/>
          </a:xfrm>
          <a:prstGeom prst="line">
            <a:avLst/>
          </a:prstGeom>
          <a:ln w="9525">
            <a:solidFill>
              <a:srgbClr val="CC785C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103120" y="5029199"/>
            <a:ext cx="365760" cy="1463040"/>
          </a:xfrm>
          <a:prstGeom prst="line">
            <a:avLst/>
          </a:prstGeom>
          <a:ln w="9525">
            <a:solidFill>
              <a:srgbClr val="CC785C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103120" y="6565391"/>
            <a:ext cx="365760" cy="292608"/>
          </a:xfrm>
          <a:prstGeom prst="line">
            <a:avLst/>
          </a:prstGeom>
          <a:ln w="9525">
            <a:solidFill>
              <a:srgbClr val="CC785C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103120" y="6565391"/>
            <a:ext cx="365760" cy="658368"/>
          </a:xfrm>
          <a:prstGeom prst="line">
            <a:avLst/>
          </a:prstGeom>
          <a:ln w="9525">
            <a:solidFill>
              <a:srgbClr val="CC785C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103120" y="6565391"/>
            <a:ext cx="365760" cy="1024128"/>
          </a:xfrm>
          <a:prstGeom prst="line">
            <a:avLst/>
          </a:prstGeom>
          <a:ln w="9525">
            <a:solidFill>
              <a:srgbClr val="CC785C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103120" y="6565391"/>
            <a:ext cx="365760" cy="1389888"/>
          </a:xfrm>
          <a:prstGeom prst="line">
            <a:avLst/>
          </a:prstGeom>
          <a:ln w="9525">
            <a:solidFill>
              <a:srgbClr val="CC785C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103120" y="8101583"/>
            <a:ext cx="365760" cy="219457"/>
          </a:xfrm>
          <a:prstGeom prst="line">
            <a:avLst/>
          </a:prstGeom>
          <a:ln w="9525">
            <a:solidFill>
              <a:srgbClr val="CC785C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103120" y="8101583"/>
            <a:ext cx="365760" cy="585216"/>
          </a:xfrm>
          <a:prstGeom prst="line">
            <a:avLst/>
          </a:prstGeom>
          <a:ln w="9525">
            <a:solidFill>
              <a:srgbClr val="CC785C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6126480" y="1330960"/>
            <a:ext cx="365760" cy="40640"/>
          </a:xfrm>
          <a:prstGeom prst="line">
            <a:avLst/>
          </a:prstGeom>
          <a:ln w="9525">
            <a:solidFill>
              <a:srgbClr val="7C93A8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126480" y="1371600"/>
            <a:ext cx="365760" cy="243840"/>
          </a:xfrm>
          <a:prstGeom prst="line">
            <a:avLst/>
          </a:prstGeom>
          <a:ln w="9525">
            <a:solidFill>
              <a:srgbClr val="7C93A8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126480" y="1371600"/>
            <a:ext cx="365760" cy="528319"/>
          </a:xfrm>
          <a:prstGeom prst="line">
            <a:avLst/>
          </a:prstGeom>
          <a:ln w="9525">
            <a:solidFill>
              <a:srgbClr val="7C93A8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126480" y="1371600"/>
            <a:ext cx="365760" cy="812800"/>
          </a:xfrm>
          <a:prstGeom prst="line">
            <a:avLst/>
          </a:prstGeom>
          <a:ln w="9525">
            <a:solidFill>
              <a:srgbClr val="7C93A8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126480" y="1371600"/>
            <a:ext cx="365760" cy="1097280"/>
          </a:xfrm>
          <a:prstGeom prst="line">
            <a:avLst/>
          </a:prstGeom>
          <a:ln w="9525">
            <a:solidFill>
              <a:srgbClr val="7C93A8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126480" y="1737360"/>
            <a:ext cx="365760" cy="1015999"/>
          </a:xfrm>
          <a:prstGeom prst="line">
            <a:avLst/>
          </a:prstGeom>
          <a:ln w="9525">
            <a:solidFill>
              <a:srgbClr val="7C93A8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126480" y="2103120"/>
            <a:ext cx="365760" cy="934719"/>
          </a:xfrm>
          <a:prstGeom prst="line">
            <a:avLst/>
          </a:prstGeom>
          <a:ln w="9525">
            <a:solidFill>
              <a:srgbClr val="7C93A8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126480" y="2468879"/>
            <a:ext cx="365760" cy="853440"/>
          </a:xfrm>
          <a:prstGeom prst="line">
            <a:avLst/>
          </a:prstGeom>
          <a:ln w="9525">
            <a:solidFill>
              <a:srgbClr val="7C93A8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126480" y="2834639"/>
            <a:ext cx="365760" cy="772160"/>
          </a:xfrm>
          <a:prstGeom prst="line">
            <a:avLst/>
          </a:prstGeom>
          <a:ln w="9525">
            <a:solidFill>
              <a:srgbClr val="7C93A8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126480" y="3200399"/>
            <a:ext cx="365760" cy="690880"/>
          </a:xfrm>
          <a:prstGeom prst="line">
            <a:avLst/>
          </a:prstGeom>
          <a:ln w="9525">
            <a:solidFill>
              <a:srgbClr val="7C93A8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126480" y="3566159"/>
            <a:ext cx="365760" cy="609601"/>
          </a:xfrm>
          <a:prstGeom prst="line">
            <a:avLst/>
          </a:prstGeom>
          <a:ln w="9525">
            <a:solidFill>
              <a:srgbClr val="7C93A8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126480" y="3566159"/>
            <a:ext cx="365760" cy="894081"/>
          </a:xfrm>
          <a:prstGeom prst="line">
            <a:avLst/>
          </a:prstGeom>
          <a:ln w="9525">
            <a:solidFill>
              <a:srgbClr val="7C93A8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126480" y="3931919"/>
            <a:ext cx="365760" cy="812800"/>
          </a:xfrm>
          <a:prstGeom prst="line">
            <a:avLst/>
          </a:prstGeom>
          <a:ln w="9525">
            <a:solidFill>
              <a:srgbClr val="7C93A8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126480" y="4297679"/>
            <a:ext cx="365760" cy="731520"/>
          </a:xfrm>
          <a:prstGeom prst="line">
            <a:avLst/>
          </a:prstGeom>
          <a:ln w="9525">
            <a:solidFill>
              <a:srgbClr val="7C93A8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126480" y="4663440"/>
            <a:ext cx="365760" cy="650239"/>
          </a:xfrm>
          <a:prstGeom prst="line">
            <a:avLst/>
          </a:prstGeom>
          <a:ln w="9525">
            <a:solidFill>
              <a:srgbClr val="7C93A8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6126480" y="5029199"/>
            <a:ext cx="365760" cy="568961"/>
          </a:xfrm>
          <a:prstGeom prst="line">
            <a:avLst/>
          </a:prstGeom>
          <a:ln w="9525">
            <a:solidFill>
              <a:srgbClr val="7C93A8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6126480" y="5394959"/>
            <a:ext cx="365760" cy="487680"/>
          </a:xfrm>
          <a:prstGeom prst="line">
            <a:avLst/>
          </a:prstGeom>
          <a:ln w="9525">
            <a:solidFill>
              <a:srgbClr val="7C93A8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6126480" y="5760719"/>
            <a:ext cx="365760" cy="406400"/>
          </a:xfrm>
          <a:prstGeom prst="line">
            <a:avLst/>
          </a:prstGeom>
          <a:ln w="9525">
            <a:solidFill>
              <a:srgbClr val="7C93A8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126480" y="6126479"/>
            <a:ext cx="365760" cy="325120"/>
          </a:xfrm>
          <a:prstGeom prst="line">
            <a:avLst/>
          </a:prstGeom>
          <a:ln w="9525">
            <a:solidFill>
              <a:srgbClr val="7C93A8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126480" y="6492239"/>
            <a:ext cx="365760" cy="243841"/>
          </a:xfrm>
          <a:prstGeom prst="line">
            <a:avLst/>
          </a:prstGeom>
          <a:ln w="9525">
            <a:solidFill>
              <a:srgbClr val="7C93A8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126480" y="6857999"/>
            <a:ext cx="365760" cy="162560"/>
          </a:xfrm>
          <a:prstGeom prst="line">
            <a:avLst/>
          </a:prstGeom>
          <a:ln w="9525">
            <a:solidFill>
              <a:srgbClr val="7C93A8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126480" y="6857999"/>
            <a:ext cx="365760" cy="447040"/>
          </a:xfrm>
          <a:prstGeom prst="line">
            <a:avLst/>
          </a:prstGeom>
          <a:ln w="9525">
            <a:solidFill>
              <a:srgbClr val="7C93A8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126480" y="7223759"/>
            <a:ext cx="365760" cy="365760"/>
          </a:xfrm>
          <a:prstGeom prst="line">
            <a:avLst/>
          </a:prstGeom>
          <a:ln w="9525">
            <a:solidFill>
              <a:srgbClr val="7C93A8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6126480" y="7589519"/>
            <a:ext cx="365760" cy="284481"/>
          </a:xfrm>
          <a:prstGeom prst="line">
            <a:avLst/>
          </a:prstGeom>
          <a:ln w="9525">
            <a:solidFill>
              <a:srgbClr val="7C93A8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6126480" y="7955279"/>
            <a:ext cx="365760" cy="203200"/>
          </a:xfrm>
          <a:prstGeom prst="line">
            <a:avLst/>
          </a:prstGeom>
          <a:ln w="9525">
            <a:solidFill>
              <a:srgbClr val="7C93A8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6126480" y="8321040"/>
            <a:ext cx="365760" cy="121920"/>
          </a:xfrm>
          <a:prstGeom prst="line">
            <a:avLst/>
          </a:prstGeom>
          <a:ln w="9525">
            <a:solidFill>
              <a:srgbClr val="7C93A8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6126480" y="8686799"/>
            <a:ext cx="365760" cy="40641"/>
          </a:xfrm>
          <a:prstGeom prst="line">
            <a:avLst/>
          </a:prstGeom>
          <a:ln w="9525">
            <a:solidFill>
              <a:srgbClr val="7C93A8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966959" y="1330960"/>
            <a:ext cx="365761" cy="83670"/>
          </a:xfrm>
          <a:prstGeom prst="line">
            <a:avLst/>
          </a:prstGeom>
          <a:ln w="9525">
            <a:solidFill>
              <a:srgbClr val="8A9A6B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9966959" y="1414630"/>
            <a:ext cx="365761" cy="200810"/>
          </a:xfrm>
          <a:prstGeom prst="line">
            <a:avLst/>
          </a:prstGeom>
          <a:ln w="9525">
            <a:solidFill>
              <a:srgbClr val="8A9A6B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9966959" y="1866451"/>
            <a:ext cx="365761" cy="33468"/>
          </a:xfrm>
          <a:prstGeom prst="line">
            <a:avLst/>
          </a:prstGeom>
          <a:ln w="9525">
            <a:solidFill>
              <a:srgbClr val="8A9A6B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9966959" y="1866451"/>
            <a:ext cx="365761" cy="3447228"/>
          </a:xfrm>
          <a:prstGeom prst="line">
            <a:avLst/>
          </a:prstGeom>
          <a:ln w="9525">
            <a:solidFill>
              <a:srgbClr val="8A9A6B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966959" y="2184400"/>
            <a:ext cx="365761" cy="133872"/>
          </a:xfrm>
          <a:prstGeom prst="line">
            <a:avLst/>
          </a:prstGeom>
          <a:ln w="9525">
            <a:solidFill>
              <a:srgbClr val="8A9A6B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9966959" y="2318272"/>
            <a:ext cx="365761" cy="150608"/>
          </a:xfrm>
          <a:prstGeom prst="line">
            <a:avLst/>
          </a:prstGeom>
          <a:ln w="9525">
            <a:solidFill>
              <a:srgbClr val="8A9A6B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9966959" y="2318272"/>
            <a:ext cx="365761" cy="4702287"/>
          </a:xfrm>
          <a:prstGeom prst="line">
            <a:avLst/>
          </a:prstGeom>
          <a:ln w="9525">
            <a:solidFill>
              <a:srgbClr val="8A9A6B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9966959" y="2318272"/>
            <a:ext cx="365761" cy="5271247"/>
          </a:xfrm>
          <a:prstGeom prst="line">
            <a:avLst/>
          </a:prstGeom>
          <a:ln w="9525">
            <a:solidFill>
              <a:srgbClr val="8A9A6B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9966959" y="2753359"/>
            <a:ext cx="365761" cy="16735"/>
          </a:xfrm>
          <a:prstGeom prst="line">
            <a:avLst/>
          </a:prstGeom>
          <a:ln w="9525">
            <a:solidFill>
              <a:srgbClr val="8A9A6B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9966959" y="2770094"/>
            <a:ext cx="365761" cy="2259105"/>
          </a:xfrm>
          <a:prstGeom prst="line">
            <a:avLst/>
          </a:prstGeom>
          <a:ln w="9525">
            <a:solidFill>
              <a:srgbClr val="8A9A6B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9966959" y="3037839"/>
            <a:ext cx="365761" cy="184076"/>
          </a:xfrm>
          <a:prstGeom prst="line">
            <a:avLst/>
          </a:prstGeom>
          <a:ln w="9525">
            <a:solidFill>
              <a:srgbClr val="8A9A6B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9966959" y="3322319"/>
            <a:ext cx="365761" cy="351417"/>
          </a:xfrm>
          <a:prstGeom prst="line">
            <a:avLst/>
          </a:prstGeom>
          <a:ln w="9525">
            <a:solidFill>
              <a:srgbClr val="8A9A6B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9966959" y="3606799"/>
            <a:ext cx="365761" cy="518758"/>
          </a:xfrm>
          <a:prstGeom prst="line">
            <a:avLst/>
          </a:prstGeom>
          <a:ln w="9525">
            <a:solidFill>
              <a:srgbClr val="8A9A6B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9966959" y="3891279"/>
            <a:ext cx="365761" cy="686099"/>
          </a:xfrm>
          <a:prstGeom prst="line">
            <a:avLst/>
          </a:prstGeom>
          <a:ln w="9525">
            <a:solidFill>
              <a:srgbClr val="8A9A6B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9966959" y="4577378"/>
            <a:ext cx="365761" cy="1874221"/>
          </a:xfrm>
          <a:prstGeom prst="line">
            <a:avLst/>
          </a:prstGeom>
          <a:ln w="9525">
            <a:solidFill>
              <a:srgbClr val="8A9A6B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9966959" y="4175760"/>
            <a:ext cx="365761" cy="853439"/>
          </a:xfrm>
          <a:prstGeom prst="line">
            <a:avLst/>
          </a:prstGeom>
          <a:ln w="9525">
            <a:solidFill>
              <a:srgbClr val="8A9A6B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9966959" y="4460240"/>
            <a:ext cx="365761" cy="1020781"/>
          </a:xfrm>
          <a:prstGeom prst="line">
            <a:avLst/>
          </a:prstGeom>
          <a:ln w="9525">
            <a:solidFill>
              <a:srgbClr val="8A9A6B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9966959" y="4744719"/>
            <a:ext cx="365761" cy="1188123"/>
          </a:xfrm>
          <a:prstGeom prst="line">
            <a:avLst/>
          </a:prstGeom>
          <a:ln w="9525">
            <a:solidFill>
              <a:srgbClr val="8A9A6B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9966959" y="5598160"/>
            <a:ext cx="365761" cy="786503"/>
          </a:xfrm>
          <a:prstGeom prst="line">
            <a:avLst/>
          </a:prstGeom>
          <a:ln w="9525">
            <a:solidFill>
              <a:srgbClr val="8A9A6B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9966959" y="5882639"/>
            <a:ext cx="365761" cy="953845"/>
          </a:xfrm>
          <a:prstGeom prst="line">
            <a:avLst/>
          </a:prstGeom>
          <a:ln w="9525">
            <a:solidFill>
              <a:srgbClr val="8A9A6B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9966959" y="6167119"/>
            <a:ext cx="365761" cy="1121186"/>
          </a:xfrm>
          <a:prstGeom prst="line">
            <a:avLst/>
          </a:prstGeom>
          <a:ln w="9525">
            <a:solidFill>
              <a:srgbClr val="8A9A6B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9966959" y="6736080"/>
            <a:ext cx="365761" cy="1004047"/>
          </a:xfrm>
          <a:prstGeom prst="line">
            <a:avLst/>
          </a:prstGeom>
          <a:ln w="9525">
            <a:solidFill>
              <a:srgbClr val="8A9A6B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9966959" y="7305039"/>
            <a:ext cx="365761" cy="435088"/>
          </a:xfrm>
          <a:prstGeom prst="line">
            <a:avLst/>
          </a:prstGeom>
          <a:ln w="9525">
            <a:solidFill>
              <a:srgbClr val="8A9A6B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9966959" y="7740127"/>
            <a:ext cx="365761" cy="133873"/>
          </a:xfrm>
          <a:prstGeom prst="line">
            <a:avLst/>
          </a:prstGeom>
          <a:ln w="9525">
            <a:solidFill>
              <a:srgbClr val="8A9A6B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9966959" y="7740127"/>
            <a:ext cx="365761" cy="418352"/>
          </a:xfrm>
          <a:prstGeom prst="line">
            <a:avLst/>
          </a:prstGeom>
          <a:ln w="9525">
            <a:solidFill>
              <a:srgbClr val="8A9A6B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9966959" y="8191948"/>
            <a:ext cx="365761" cy="251012"/>
          </a:xfrm>
          <a:prstGeom prst="line">
            <a:avLst/>
          </a:prstGeom>
          <a:ln w="9525">
            <a:solidFill>
              <a:srgbClr val="8A9A6B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9966959" y="8643769"/>
            <a:ext cx="365761" cy="83671"/>
          </a:xfrm>
          <a:prstGeom prst="line">
            <a:avLst/>
          </a:prstGeom>
          <a:ln w="9525">
            <a:solidFill>
              <a:srgbClr val="8A9A6B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ounded Rectangle 81"/>
          <p:cNvSpPr/>
          <p:nvPr/>
        </p:nvSpPr>
        <p:spPr>
          <a:xfrm>
            <a:off x="274320" y="1831085"/>
            <a:ext cx="1828800" cy="251460"/>
          </a:xfrm>
          <a:prstGeom prst="roundRect">
            <a:avLst/>
          </a:prstGeom>
          <a:solidFill>
            <a:srgbClr val="F3DCD2"/>
          </a:solidFill>
          <a:ln w="12700">
            <a:solidFill>
              <a:srgbClr val="CC7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정기보고서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74320" y="3367277"/>
            <a:ext cx="1828800" cy="251460"/>
          </a:xfrm>
          <a:prstGeom prst="roundRect">
            <a:avLst/>
          </a:prstGeom>
          <a:solidFill>
            <a:srgbClr val="F3DCD2"/>
          </a:solidFill>
          <a:ln w="12700">
            <a:solidFill>
              <a:srgbClr val="CC7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주요사항보고서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274320" y="4903469"/>
            <a:ext cx="1828800" cy="251460"/>
          </a:xfrm>
          <a:prstGeom prst="roundRect">
            <a:avLst/>
          </a:prstGeom>
          <a:solidFill>
            <a:srgbClr val="F3DCD2"/>
          </a:solidFill>
          <a:ln w="12700">
            <a:solidFill>
              <a:srgbClr val="CC7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거래소 수시공시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274320" y="6439661"/>
            <a:ext cx="1828800" cy="251460"/>
          </a:xfrm>
          <a:prstGeom prst="roundRect">
            <a:avLst/>
          </a:prstGeom>
          <a:solidFill>
            <a:srgbClr val="F3DCD2"/>
          </a:solidFill>
          <a:ln w="12700">
            <a:solidFill>
              <a:srgbClr val="CC7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대량보유·지분 보고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74320" y="7975854"/>
            <a:ext cx="1828800" cy="251460"/>
          </a:xfrm>
          <a:prstGeom prst="roundRect">
            <a:avLst/>
          </a:prstGeom>
          <a:solidFill>
            <a:srgbClr val="F3DCD2"/>
          </a:solidFill>
          <a:ln w="12700">
            <a:solidFill>
              <a:srgbClr val="CC7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공시 메타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2468880" y="1245870"/>
            <a:ext cx="365760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사업·반기·분기보고서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2468880" y="1611630"/>
            <a:ext cx="365760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자기주식 취득·처분·신탁 결정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468880" y="1977389"/>
            <a:ext cx="365760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유상증자·CB·BW·감자 결정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468880" y="2343149"/>
            <a:ext cx="365760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합병·분할·주식교환 결정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468880" y="2708909"/>
            <a:ext cx="365760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타법인주식 양수·양도 결정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468880" y="3074669"/>
            <a:ext cx="365760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회생·부도·영업정지·해산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468880" y="3440429"/>
            <a:ext cx="365760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주주총회 소집공고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2468880" y="3806189"/>
            <a:ext cx="365760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주주총회 결과(의결권행사)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468880" y="4171949"/>
            <a:ext cx="365760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자기주식 결과보고서·소각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468880" y="4537709"/>
            <a:ext cx="365760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현금·현물배당 결정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468880" y="4903469"/>
            <a:ext cx="365760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단일판매·공급계약 체결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468880" y="5269229"/>
            <a:ext cx="365760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기업지배구조보고서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468880" y="5634989"/>
            <a:ext cx="365760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기업가치제고계획(밸류업)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2468880" y="6000749"/>
            <a:ext cx="365760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중대재해·횡령배임·생산중단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2468880" y="6366509"/>
            <a:ext cx="365760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경영권분쟁소송 제기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2468880" y="6732269"/>
            <a:ext cx="365760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5% 대량보유상황보고서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468880" y="7098029"/>
            <a:ext cx="365760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최대주주 소유주식 변동신고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2468880" y="7463790"/>
            <a:ext cx="365760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의결권 대리행사 권유(위임장)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2468880" y="7829550"/>
            <a:ext cx="365760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공개매수 신고서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2468880" y="8195310"/>
            <a:ext cx="365760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전체 공시 목록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2468880" y="8561069"/>
            <a:ext cx="365760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rcept_no 메타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492240" y="1205230"/>
            <a:ext cx="34747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재무제표(BS·IS·CF)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6492240" y="1489710"/>
            <a:ext cx="34747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감사의견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492240" y="1774189"/>
            <a:ext cx="34747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배당에 관한 사항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492240" y="2058669"/>
            <a:ext cx="34747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최대주주·특수관계인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492240" y="2343150"/>
            <a:ext cx="34747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주식총수·자기주식 현황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6492240" y="2627629"/>
            <a:ext cx="34747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취득·처분·신탁 조건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492240" y="2912109"/>
            <a:ext cx="34747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발행조건·잠재희석률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6492240" y="3196589"/>
            <a:ext cx="34747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합병비율·외부평가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492240" y="3481069"/>
            <a:ext cx="34747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상대방·금액·자산대비%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6492240" y="3765549"/>
            <a:ext cx="34747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사유·영향(도산·정지)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6492240" y="4050029"/>
            <a:ext cx="34747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안건·이사후보·보수한도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6492240" y="4334509"/>
            <a:ext cx="34747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안건 적법성·후보 평가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6492240" y="4618989"/>
            <a:ext cx="34747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안건별 가결/부결·찬반율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6492240" y="4903469"/>
            <a:ext cx="34747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실제 취득·처분·소각 수량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492240" y="5187949"/>
            <a:ext cx="34747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DPS·배당총액·기준일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492240" y="5472429"/>
            <a:ext cx="34747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계약금액·매출대비%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6492240" y="5756909"/>
            <a:ext cx="34747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15개 지표 준수율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6492240" y="6041389"/>
            <a:ext cx="34747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commitment·이행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492240" y="6325869"/>
            <a:ext cx="34747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사상자·혐의금액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6492240" y="6610349"/>
            <a:ext cx="34747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소송 단계·당사자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6492240" y="6894829"/>
            <a:ext cx="34747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공동보유자 분해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6492240" y="7179309"/>
            <a:ext cx="34747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5% 동학(매집·목적)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6492240" y="7463790"/>
            <a:ext cx="34747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최대주주 지분 변동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6492240" y="7748270"/>
            <a:ext cx="34747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위임장 권유 내역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6492240" y="8032749"/>
            <a:ext cx="34747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공개매수 조건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6492240" y="8317230"/>
            <a:ext cx="34747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회사 식별·공시 인덱스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492240" y="8601710"/>
            <a:ext cx="34747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공시일·소스·뷰어 URL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10332720" y="1288900"/>
            <a:ext cx="4023360" cy="251460"/>
          </a:xfrm>
          <a:prstGeom prst="roundRect">
            <a:avLst/>
          </a:prstGeom>
          <a:solidFill>
            <a:srgbClr val="F1E3CA"/>
          </a:solidFill>
          <a:ln w="12700">
            <a:solidFill>
              <a:srgbClr val="C0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1">
                <a:solidFill>
                  <a:srgbClr val="2B2A28"/>
                </a:solidFill>
                <a:latin typeface="Malgun Gothic"/>
              </a:rPr>
              <a:t>financial_metrics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10332720" y="1740721"/>
            <a:ext cx="4023360" cy="251460"/>
          </a:xfrm>
          <a:prstGeom prst="roundRect">
            <a:avLst/>
          </a:prstGeom>
          <a:solidFill>
            <a:srgbClr val="F1E3CA"/>
          </a:solidFill>
          <a:ln w="12700">
            <a:solidFill>
              <a:srgbClr val="C0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1">
                <a:solidFill>
                  <a:srgbClr val="2B2A28"/>
                </a:solidFill>
                <a:latin typeface="Malgun Gothic"/>
              </a:rPr>
              <a:t>dividend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0332720" y="2192542"/>
            <a:ext cx="4023360" cy="251460"/>
          </a:xfrm>
          <a:prstGeom prst="roundRect">
            <a:avLst/>
          </a:prstGeom>
          <a:solidFill>
            <a:srgbClr val="F1E3CA"/>
          </a:solidFill>
          <a:ln w="12700">
            <a:solidFill>
              <a:srgbClr val="C0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1">
                <a:solidFill>
                  <a:srgbClr val="2B2A28"/>
                </a:solidFill>
                <a:latin typeface="Malgun Gothic"/>
              </a:rPr>
              <a:t>ownership_structure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10332720" y="2644364"/>
            <a:ext cx="4023360" cy="251460"/>
          </a:xfrm>
          <a:prstGeom prst="roundRect">
            <a:avLst/>
          </a:prstGeom>
          <a:solidFill>
            <a:srgbClr val="F1E3CA"/>
          </a:solidFill>
          <a:ln w="12700">
            <a:solidFill>
              <a:srgbClr val="C0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1">
                <a:solidFill>
                  <a:srgbClr val="2B2A28"/>
                </a:solidFill>
                <a:latin typeface="Malgun Gothic"/>
              </a:rPr>
              <a:t>treasury_share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10332720" y="3096185"/>
            <a:ext cx="4023360" cy="251460"/>
          </a:xfrm>
          <a:prstGeom prst="roundRect">
            <a:avLst/>
          </a:prstGeom>
          <a:solidFill>
            <a:srgbClr val="F1E3CA"/>
          </a:solidFill>
          <a:ln w="12700">
            <a:solidFill>
              <a:srgbClr val="C0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1">
                <a:solidFill>
                  <a:srgbClr val="2B2A28"/>
                </a:solidFill>
                <a:latin typeface="Malgun Gothic"/>
              </a:rPr>
              <a:t>dilutive_issuance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10332720" y="3548006"/>
            <a:ext cx="4023360" cy="251460"/>
          </a:xfrm>
          <a:prstGeom prst="roundRect">
            <a:avLst/>
          </a:prstGeom>
          <a:solidFill>
            <a:srgbClr val="F1E3CA"/>
          </a:solidFill>
          <a:ln w="12700">
            <a:solidFill>
              <a:srgbClr val="C0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1">
                <a:solidFill>
                  <a:srgbClr val="2B2A28"/>
                </a:solidFill>
                <a:latin typeface="Malgun Gothic"/>
              </a:rPr>
              <a:t>corporate_restructuring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10332720" y="3999827"/>
            <a:ext cx="4023360" cy="251460"/>
          </a:xfrm>
          <a:prstGeom prst="roundRect">
            <a:avLst/>
          </a:prstGeom>
          <a:solidFill>
            <a:srgbClr val="F1E3CA"/>
          </a:solidFill>
          <a:ln w="12700">
            <a:solidFill>
              <a:srgbClr val="C0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1">
                <a:solidFill>
                  <a:srgbClr val="2B2A28"/>
                </a:solidFill>
                <a:latin typeface="Malgun Gothic"/>
              </a:rPr>
              <a:t>corporate_deals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10332720" y="4451648"/>
            <a:ext cx="4023360" cy="251460"/>
          </a:xfrm>
          <a:prstGeom prst="roundRect">
            <a:avLst/>
          </a:prstGeom>
          <a:solidFill>
            <a:srgbClr val="F1E3CA"/>
          </a:solidFill>
          <a:ln w="12700">
            <a:solidFill>
              <a:srgbClr val="C0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1">
                <a:solidFill>
                  <a:srgbClr val="2B2A28"/>
                </a:solidFill>
                <a:latin typeface="Malgun Gothic"/>
              </a:rPr>
              <a:t>risk_events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10332720" y="4903469"/>
            <a:ext cx="4023360" cy="251460"/>
          </a:xfrm>
          <a:prstGeom prst="roundRect">
            <a:avLst/>
          </a:prstGeom>
          <a:solidFill>
            <a:srgbClr val="F1E3CA"/>
          </a:solidFill>
          <a:ln w="12700">
            <a:solidFill>
              <a:srgbClr val="C0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1">
                <a:solidFill>
                  <a:srgbClr val="2B2A28"/>
                </a:solidFill>
                <a:latin typeface="Malgun Gothic"/>
              </a:rPr>
              <a:t>shareholder_meeting_notice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10332720" y="5355291"/>
            <a:ext cx="4023360" cy="251460"/>
          </a:xfrm>
          <a:prstGeom prst="roundRect">
            <a:avLst/>
          </a:prstGeom>
          <a:solidFill>
            <a:srgbClr val="F1E3CA"/>
          </a:solidFill>
          <a:ln w="12700">
            <a:solidFill>
              <a:srgbClr val="C0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1">
                <a:solidFill>
                  <a:srgbClr val="2B2A28"/>
                </a:solidFill>
                <a:latin typeface="Malgun Gothic"/>
              </a:rPr>
              <a:t>proxy_advise_before_meeting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10332720" y="5807112"/>
            <a:ext cx="4023360" cy="251460"/>
          </a:xfrm>
          <a:prstGeom prst="roundRect">
            <a:avLst/>
          </a:prstGeom>
          <a:solidFill>
            <a:srgbClr val="F1E3CA"/>
          </a:solidFill>
          <a:ln w="12700">
            <a:solidFill>
              <a:srgbClr val="C0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1">
                <a:solidFill>
                  <a:srgbClr val="2B2A28"/>
                </a:solidFill>
                <a:latin typeface="Malgun Gothic"/>
              </a:rPr>
              <a:t>shareholder_meeting_results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10332720" y="6258933"/>
            <a:ext cx="4023360" cy="251460"/>
          </a:xfrm>
          <a:prstGeom prst="roundRect">
            <a:avLst/>
          </a:prstGeom>
          <a:solidFill>
            <a:srgbClr val="F1E3CA"/>
          </a:solidFill>
          <a:ln w="12700">
            <a:solidFill>
              <a:srgbClr val="C0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1">
                <a:solidFill>
                  <a:srgbClr val="2B2A28"/>
                </a:solidFill>
                <a:latin typeface="Malgun Gothic"/>
              </a:rPr>
              <a:t>order_contracts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10332720" y="6710754"/>
            <a:ext cx="4023360" cy="251460"/>
          </a:xfrm>
          <a:prstGeom prst="roundRect">
            <a:avLst/>
          </a:prstGeom>
          <a:solidFill>
            <a:srgbClr val="F1E3CA"/>
          </a:solidFill>
          <a:ln w="12700">
            <a:solidFill>
              <a:srgbClr val="C0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1">
                <a:solidFill>
                  <a:srgbClr val="2B2A28"/>
                </a:solidFill>
                <a:latin typeface="Malgun Gothic"/>
              </a:rPr>
              <a:t>corp_gov_report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10332720" y="7162575"/>
            <a:ext cx="4023360" cy="251460"/>
          </a:xfrm>
          <a:prstGeom prst="roundRect">
            <a:avLst/>
          </a:prstGeom>
          <a:solidFill>
            <a:srgbClr val="F1E3CA"/>
          </a:solidFill>
          <a:ln w="12700">
            <a:solidFill>
              <a:srgbClr val="C0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1">
                <a:solidFill>
                  <a:srgbClr val="2B2A28"/>
                </a:solidFill>
                <a:latin typeface="Malgun Gothic"/>
              </a:rPr>
              <a:t>value_up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10332720" y="7614397"/>
            <a:ext cx="4023360" cy="251460"/>
          </a:xfrm>
          <a:prstGeom prst="roundRect">
            <a:avLst/>
          </a:prstGeom>
          <a:solidFill>
            <a:srgbClr val="F1E3CA"/>
          </a:solidFill>
          <a:ln w="12700">
            <a:solidFill>
              <a:srgbClr val="C0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1">
                <a:solidFill>
                  <a:srgbClr val="2B2A28"/>
                </a:solidFill>
                <a:latin typeface="Malgun Gothic"/>
              </a:rPr>
              <a:t>proxy_contest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10332720" y="8066218"/>
            <a:ext cx="4023360" cy="251460"/>
          </a:xfrm>
          <a:prstGeom prst="roundRect">
            <a:avLst/>
          </a:prstGeom>
          <a:solidFill>
            <a:srgbClr val="F1E3CA"/>
          </a:solidFill>
          <a:ln w="12700">
            <a:solidFill>
              <a:srgbClr val="C0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1">
                <a:solidFill>
                  <a:srgbClr val="2B2A28"/>
                </a:solidFill>
                <a:latin typeface="Malgun Gothic"/>
              </a:rPr>
              <a:t>company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10332720" y="8518039"/>
            <a:ext cx="4023360" cy="251460"/>
          </a:xfrm>
          <a:prstGeom prst="roundRect">
            <a:avLst/>
          </a:prstGeom>
          <a:solidFill>
            <a:srgbClr val="F1E3CA"/>
          </a:solidFill>
          <a:ln w="12700">
            <a:solidFill>
              <a:srgbClr val="C0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5000" bIns="5000"/>
          <a:lstStyle/>
          <a:p>
            <a:pPr algn="ctr"/>
            <a:r>
              <a:rPr sz="850" b="1">
                <a:solidFill>
                  <a:srgbClr val="2B2A28"/>
                </a:solidFill>
                <a:latin typeface="Malgun Gothic"/>
              </a:rPr>
              <a:t>evidence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