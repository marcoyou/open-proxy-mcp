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373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1E1D"/>
                </a:solidFill>
                <a:latin typeface="Malgun Gothic"/>
              </a:rPr>
              <a:t>OpenProxy MCP — 공시 → 데이터 → 도구 → 종합 도구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682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6256"/>
                </a:solidFill>
                <a:latin typeface="Malgun Gothic"/>
              </a:rPr>
              <a:t>AI(Claude)가 호출하는 17개 분석 도구: 어떤 공시(①②)를 읽어 → 무슨 데이터(③)를 뽑고 → 어떤 도구(④)가 무엇을 답하는지. ⑤는 다른 도구를 모아 종합 판단하는 도구.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8755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C5A38"/>
                </a:solidFill>
                <a:latin typeface="Malgun Gothic"/>
              </a:rPr>
              <a:t>① 공시 타입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875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E7388"/>
                </a:solidFill>
                <a:latin typeface="Malgun Gothic"/>
              </a:rPr>
              <a:t>② 공시 이름 (21)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9875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E50"/>
                </a:solidFill>
                <a:latin typeface="Malgun Gothic"/>
              </a:rPr>
              <a:t>③ 추출 데이터 (26)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9875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7F3C"/>
                </a:solidFill>
                <a:latin typeface="Malgun Gothic"/>
              </a:rPr>
              <a:t>④ 기반 Tool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21640" y="98755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C5A38"/>
                </a:solidFill>
                <a:latin typeface="Malgun Gothic"/>
              </a:rPr>
              <a:t>⑤ 종합 Tool (오케스트레이터) (3)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874519" y="1594757"/>
            <a:ext cx="137161" cy="567799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74519" y="1949631"/>
            <a:ext cx="137161" cy="1703396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74519" y="2304505"/>
            <a:ext cx="137161" cy="1348522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74519" y="2659380"/>
            <a:ext cx="137161" cy="993647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74519" y="3014254"/>
            <a:ext cx="137161" cy="638773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874519" y="3369128"/>
            <a:ext cx="137161" cy="283899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74519" y="3724002"/>
            <a:ext cx="137161" cy="1419497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74519" y="4078877"/>
            <a:ext cx="137161" cy="1064622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74519" y="4433751"/>
            <a:ext cx="137161" cy="709748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4788625"/>
            <a:ext cx="137161" cy="354874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74519" y="5143499"/>
            <a:ext cx="137161" cy="0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74519" y="5143499"/>
            <a:ext cx="137161" cy="354875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74519" y="5143499"/>
            <a:ext cx="137161" cy="709749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74519" y="5143499"/>
            <a:ext cx="137161" cy="1064623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5143499"/>
            <a:ext cx="137161" cy="1419498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74519" y="6633971"/>
            <a:ext cx="137161" cy="283900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74519" y="6633971"/>
            <a:ext cx="137161" cy="638774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74519" y="6633971"/>
            <a:ext cx="137161" cy="993648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74519" y="6633971"/>
            <a:ext cx="137161" cy="1348523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74519" y="8124444"/>
            <a:ext cx="137161" cy="212924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74519" y="8124444"/>
            <a:ext cx="137161" cy="567798"/>
          </a:xfrm>
          <a:prstGeom prst="line">
            <a:avLst/>
          </a:prstGeom>
          <a:ln w="9525">
            <a:solidFill>
              <a:srgbClr val="CC785C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532120" y="1560634"/>
            <a:ext cx="228600" cy="34123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32120" y="1594757"/>
            <a:ext cx="228600" cy="252506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32120" y="1594757"/>
            <a:ext cx="228600" cy="539136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32120" y="1594757"/>
            <a:ext cx="228600" cy="825765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32120" y="1594757"/>
            <a:ext cx="228600" cy="111239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32120" y="1949631"/>
            <a:ext cx="228600" cy="104414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532120" y="2304505"/>
            <a:ext cx="228600" cy="97590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20" y="2659380"/>
            <a:ext cx="228600" cy="90765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32120" y="3014254"/>
            <a:ext cx="228600" cy="83941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32120" y="3369128"/>
            <a:ext cx="228600" cy="77116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32120" y="3724002"/>
            <a:ext cx="228600" cy="70292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32120" y="4078877"/>
            <a:ext cx="228600" cy="63467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32120" y="4433751"/>
            <a:ext cx="228600" cy="56643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32120" y="4788625"/>
            <a:ext cx="228600" cy="49818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532120" y="5143499"/>
            <a:ext cx="228600" cy="42994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32120" y="5498374"/>
            <a:ext cx="228600" cy="36169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32120" y="5853248"/>
            <a:ext cx="228600" cy="293454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32120" y="6208122"/>
            <a:ext cx="228600" cy="225209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32120" y="6562997"/>
            <a:ext cx="228600" cy="156963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532120" y="6917871"/>
            <a:ext cx="228600" cy="88718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532120" y="6917871"/>
            <a:ext cx="228600" cy="375348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32120" y="7272745"/>
            <a:ext cx="228600" cy="307103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7627619"/>
            <a:ext cx="228600" cy="238858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32120" y="7982494"/>
            <a:ext cx="228600" cy="170612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32120" y="8337368"/>
            <a:ext cx="228600" cy="102368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32120" y="8692242"/>
            <a:ext cx="228600" cy="34123"/>
          </a:xfrm>
          <a:prstGeom prst="line">
            <a:avLst/>
          </a:prstGeom>
          <a:ln w="9525">
            <a:solidFill>
              <a:srgbClr val="7C93A8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1560634"/>
            <a:ext cx="365760" cy="10509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06840" y="1665732"/>
            <a:ext cx="365760" cy="181531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006840" y="2133893"/>
            <a:ext cx="365760" cy="28663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006840" y="2162556"/>
            <a:ext cx="365760" cy="312425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006840" y="2420522"/>
            <a:ext cx="365760" cy="23885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006840" y="2659380"/>
            <a:ext cx="365760" cy="47771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006840" y="2659380"/>
            <a:ext cx="365760" cy="4347209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006840" y="2659380"/>
            <a:ext cx="365760" cy="492046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06840" y="2993780"/>
            <a:ext cx="365760" cy="162423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006840" y="3156203"/>
            <a:ext cx="365760" cy="1843982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06840" y="3280409"/>
            <a:ext cx="365760" cy="372619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06840" y="3567039"/>
            <a:ext cx="365760" cy="582812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006840" y="3853668"/>
            <a:ext cx="365760" cy="793007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006840" y="4140297"/>
            <a:ext cx="365760" cy="1003202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006840" y="5143499"/>
            <a:ext cx="365760" cy="1289832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006840" y="4426926"/>
            <a:ext cx="365760" cy="121339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006840" y="4713556"/>
            <a:ext cx="365760" cy="1423591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006840" y="5573443"/>
            <a:ext cx="365760" cy="106052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006840" y="5860073"/>
            <a:ext cx="365760" cy="1270722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006840" y="6146702"/>
            <a:ext cx="365760" cy="1480918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06840" y="8124443"/>
            <a:ext cx="365760" cy="315293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006840" y="8621268"/>
            <a:ext cx="365760" cy="105097"/>
          </a:xfrm>
          <a:prstGeom prst="line">
            <a:avLst/>
          </a:prstGeom>
          <a:ln w="9525">
            <a:solidFill>
              <a:srgbClr val="8A9A6B">
                <a:alpha val="5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2664440" y="2659380"/>
            <a:ext cx="457200" cy="3947160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2664440" y="6137147"/>
            <a:ext cx="457200" cy="469393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664440" y="1665732"/>
            <a:ext cx="457200" cy="2266188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664440" y="2162556"/>
            <a:ext cx="457200" cy="1769364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2664440" y="2659380"/>
            <a:ext cx="457200" cy="1272540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664440" y="3156203"/>
            <a:ext cx="457200" cy="775717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2664440" y="3931920"/>
            <a:ext cx="457200" cy="2702051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664440" y="3931920"/>
            <a:ext cx="457200" cy="3198875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2664440" y="3931920"/>
            <a:ext cx="457200" cy="1708404"/>
          </a:xfrm>
          <a:prstGeom prst="line">
            <a:avLst/>
          </a:prstGeom>
          <a:ln w="19050">
            <a:solidFill>
              <a:srgbClr val="CC785C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006840" y="6606540"/>
            <a:ext cx="4114800" cy="686679"/>
          </a:xfrm>
          <a:prstGeom prst="line">
            <a:avLst/>
          </a:prstGeom>
          <a:ln w="11430">
            <a:solidFill>
              <a:srgbClr val="9A8C7A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006840" y="6606540"/>
            <a:ext cx="4114800" cy="113420"/>
          </a:xfrm>
          <a:prstGeom prst="line">
            <a:avLst/>
          </a:prstGeom>
          <a:ln w="11430">
            <a:solidFill>
              <a:srgbClr val="9A8C7A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006840" y="6606540"/>
            <a:ext cx="4114800" cy="1259937"/>
          </a:xfrm>
          <a:prstGeom prst="line">
            <a:avLst/>
          </a:prstGeom>
          <a:ln w="11430">
            <a:solidFill>
              <a:srgbClr val="9A8C7A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006840" y="6606540"/>
            <a:ext cx="4114800" cy="1546566"/>
          </a:xfrm>
          <a:prstGeom prst="line">
            <a:avLst/>
          </a:prstGeom>
          <a:ln w="11430">
            <a:solidFill>
              <a:srgbClr val="9A8C7A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3121640" y="1604772"/>
            <a:ext cx="4069080" cy="2327148"/>
          </a:xfrm>
          <a:prstGeom prst="line">
            <a:avLst/>
          </a:prstGeom>
          <a:ln w="17780">
            <a:solidFill>
              <a:srgbClr val="C09A5B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274320" y="2025395"/>
            <a:ext cx="1600200" cy="274320"/>
          </a:xfrm>
          <a:prstGeom prst="roundRect">
            <a:avLst/>
          </a:prstGeom>
          <a:solidFill>
            <a:srgbClr val="F3DCD2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정기보고서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74320" y="3515867"/>
            <a:ext cx="1600200" cy="274320"/>
          </a:xfrm>
          <a:prstGeom prst="roundRect">
            <a:avLst/>
          </a:prstGeom>
          <a:solidFill>
            <a:srgbClr val="F3DCD2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주요사항보고서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4320" y="5006339"/>
            <a:ext cx="1600200" cy="274320"/>
          </a:xfrm>
          <a:prstGeom prst="roundRect">
            <a:avLst/>
          </a:prstGeom>
          <a:solidFill>
            <a:srgbClr val="F3DCD2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거래소 수시공시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4320" y="6496811"/>
            <a:ext cx="1600200" cy="274320"/>
          </a:xfrm>
          <a:prstGeom prst="roundRect">
            <a:avLst/>
          </a:prstGeom>
          <a:solidFill>
            <a:srgbClr val="F3DCD2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대량보유·지분 보고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" y="7987283"/>
            <a:ext cx="1600200" cy="274320"/>
          </a:xfrm>
          <a:prstGeom prst="roundRect">
            <a:avLst/>
          </a:prstGeom>
          <a:solidFill>
            <a:srgbClr val="F3DCD2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공시 메타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11680" y="1457597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사업·반기·분기보고서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011680" y="1812471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자기주식 취득·처분·신탁 결정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011680" y="2167345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유상증자·CB·BW·감자 결정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011680" y="2522220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합병·분할·주식교환 결정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011680" y="2877094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타법인주식 양수·양도 결정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011680" y="3231968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회생·부도·영업정지·해산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011680" y="3586842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주주총회 소집공고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011680" y="3941717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주주총회 결과(의결권행사)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011680" y="4296591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자기주식 결과보고서·소각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011680" y="4651465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현금·현물배당 결정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011680" y="5006339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단일판매·공급계약 체결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011680" y="5361214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기업지배구조보고서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11680" y="5716088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기업가치제고계획(밸류업)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011680" y="6070962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중대재해·횡령배임·생산중단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011680" y="6425837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경영권분쟁소송 제기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011680" y="6780711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5% 대량보유상황보고서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011680" y="7135585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최대주주 소유주식 변동신고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011680" y="7490459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의결권 대리행사 권유(위임장)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011680" y="7845334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공개매수 신고서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011680" y="8200208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전체 공시 목록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011680" y="8555082"/>
            <a:ext cx="3520440" cy="274320"/>
          </a:xfrm>
          <a:prstGeom prst="roundRect">
            <a:avLst/>
          </a:prstGeom>
          <a:solidFill>
            <a:srgbClr val="DEE6EC"/>
          </a:solidFill>
          <a:ln w="12700">
            <a:solidFill>
              <a:srgbClr val="7C9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rcept_no 메타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760720" y="1434904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재무제표(BS·IS·CF)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760720" y="1721533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감사의견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760720" y="2008163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배당에 관한 사항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760720" y="2294792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최대주주·특수관계인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760720" y="2581421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주식총수·자기주식 현황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760720" y="2868050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취득·처분·신탁 조건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760720" y="3154679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발행조건·잠재희석률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760720" y="3441309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합병비율·외부평가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760720" y="3727938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상대방·금액·자산대비%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760720" y="4014567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발생사실·금액·법원(도산·정지)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760720" y="4301196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안건·이사후보·보수한도·정관변경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760720" y="4587826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안건별 가결/부결·찬반율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760720" y="4874455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실제 취득·처분·소각 수량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760720" y="5161084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DPS·배당총액·기준일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760720" y="5447713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계약금액·매출대비%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760720" y="5734343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15개 지표 준수율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760720" y="6020972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약속문장·이행현황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760720" y="6307601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사상자·혐의금액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760720" y="6594230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소송 단계·당사자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60720" y="6880859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공동보유자 분해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760720" y="7167489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5% 동학(매집·목적)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760720" y="7454118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최대주주 지분 변동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760720" y="7740747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위임장 권유 내역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760720" y="8027376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공개매수 신고내역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760720" y="8314006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회사 식별·공시 인덱스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760720" y="8600635"/>
            <a:ext cx="3246120" cy="251460"/>
          </a:xfrm>
          <a:prstGeom prst="roundRect">
            <a:avLst/>
          </a:prstGeom>
          <a:solidFill>
            <a:srgbClr val="E3E8D8"/>
          </a:solidFill>
          <a:ln w="12700">
            <a:solidFill>
              <a:srgbClr val="8A9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공시일·소스·뷰어 URL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372600" y="1455420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financial_metrics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재무·회계 risk 진단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372600" y="1952243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dividend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배당 사실·추이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372600" y="2449068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ownership_structure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지분구조·공동보유자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372600" y="2945891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treasury_share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자사주 이벤트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372600" y="3442716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dilutive_issuance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증자·CB 등 희석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372600" y="3939539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corporate_restructuring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합병·분할·교환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72600" y="4436363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corporate_deals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인수·매각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372600" y="4933187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risk_events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악재 스캔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372600" y="5430011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shareholder_meeting_notice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주총 안건 (사전)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372600" y="5926835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shareholder_meeting_results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주총 결과 (사후)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372600" y="6423659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order_contracts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수주 추적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372600" y="6920483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corp_gov_report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지배구조 점검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372600" y="7417308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value_up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밸류업 이행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372600" y="7914131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company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회사 식별·진입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372600" y="8410956"/>
            <a:ext cx="3291840" cy="420624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00" b="1">
                <a:solidFill>
                  <a:srgbClr val="2B2A28"/>
                </a:solidFill>
                <a:latin typeface="Malgun Gothic"/>
              </a:rPr>
              <a:t>evidence</a:t>
            </a:r>
          </a:p>
          <a:p>
            <a:pPr algn="ctr"/>
            <a:r>
              <a:rPr sz="730" b="0">
                <a:solidFill>
                  <a:srgbClr val="2B2A28"/>
                </a:solidFill>
                <a:latin typeface="Malgun Gothic"/>
              </a:rPr>
              <a:t>출처 링크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3121640" y="1353312"/>
            <a:ext cx="4069080" cy="502920"/>
          </a:xfrm>
          <a:prstGeom prst="roundRect">
            <a:avLst/>
          </a:prstGeom>
          <a:solidFill>
            <a:srgbClr val="F1E3CA"/>
          </a:solidFill>
          <a:ln w="12700">
            <a:solidFill>
              <a:srgbClr val="C0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850" b="1">
                <a:solidFill>
                  <a:srgbClr val="2B2A28"/>
                </a:solidFill>
                <a:latin typeface="Malgun Gothic"/>
              </a:rPr>
              <a:t>상법 법령 레이어</a:t>
            </a:r>
          </a:p>
          <a:p>
            <a:pPr algn="ctr"/>
            <a:r>
              <a:rPr sz="850" b="0">
                <a:solidFill>
                  <a:srgbClr val="2B2A28"/>
                </a:solidFill>
                <a:latin typeface="Malgun Gothic"/>
              </a:rPr>
              <a:t>(wiki/rules/laws)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3121640" y="3429000"/>
            <a:ext cx="4069080" cy="1005840"/>
          </a:xfrm>
          <a:prstGeom prst="roundRect">
            <a:avLst/>
          </a:prstGeom>
          <a:solidFill>
            <a:srgbClr val="EFC9B8"/>
          </a:solidFill>
          <a:ln w="254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50" b="1">
                <a:solidFill>
                  <a:srgbClr val="2B2A28"/>
                </a:solidFill>
                <a:latin typeface="Malgun Gothic"/>
              </a:rPr>
              <a:t>proxy_advise_before_meeting</a:t>
            </a:r>
          </a:p>
          <a:p>
            <a:pPr algn="ctr"/>
            <a:r>
              <a:rPr sz="800" b="0">
                <a:solidFill>
                  <a:srgbClr val="2B2A28"/>
                </a:solidFill>
                <a:latin typeface="Malgun Gothic"/>
              </a:rPr>
              <a:t>★ TOOL OF TOOLS ★</a:t>
            </a:r>
          </a:p>
          <a:p>
            <a:pPr algn="ctr"/>
            <a:r>
              <a:rPr sz="800" b="0">
                <a:solidFill>
                  <a:srgbClr val="2B2A28"/>
                </a:solidFill>
                <a:latin typeface="Malgun Gothic"/>
              </a:rPr>
              <a:t>내부: director_evaluation</a:t>
            </a:r>
          </a:p>
          <a:p>
            <a:pPr algn="ctr"/>
            <a:r>
              <a:rPr sz="800" b="0">
                <a:solidFill>
                  <a:srgbClr val="2B2A28"/>
                </a:solidFill>
                <a:latin typeface="Malgun Gothic"/>
              </a:rPr>
              <a:t>→ 안건별 의결권 권고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3121640" y="6172200"/>
            <a:ext cx="4069080" cy="868680"/>
          </a:xfrm>
          <a:prstGeom prst="roundRect">
            <a:avLst/>
          </a:prstGeom>
          <a:solidFill>
            <a:srgbClr val="EFC9B8"/>
          </a:solidFill>
          <a:ln w="254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4000" bIns="4000"/>
          <a:lstStyle/>
          <a:p>
            <a:pPr algn="ctr"/>
            <a:r>
              <a:rPr sz="950" b="1">
                <a:solidFill>
                  <a:srgbClr val="2B2A28"/>
                </a:solidFill>
                <a:latin typeface="Malgun Gothic"/>
              </a:rPr>
              <a:t>proxy_contest</a:t>
            </a:r>
          </a:p>
          <a:p>
            <a:pPr algn="ctr"/>
            <a:r>
              <a:rPr sz="800" b="0">
                <a:solidFill>
                  <a:srgbClr val="2B2A28"/>
                </a:solidFill>
                <a:latin typeface="Malgun Gothic"/>
              </a:rPr>
              <a:t>→ 경영권 분쟁 신호</a:t>
            </a:r>
          </a:p>
          <a:p>
            <a:pPr algn="ctr"/>
            <a:r>
              <a:rPr sz="800" b="0">
                <a:solidFill>
                  <a:srgbClr val="2B2A28"/>
                </a:solidFill>
                <a:latin typeface="Malgun Gothic"/>
              </a:rPr>
              <a:t>(+ 소송·위임장·공개매수·5% 공시 직접조회)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3121640" y="7360920"/>
            <a:ext cx="4069080" cy="1481328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D8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40000" tIns="45000" bIns="20000"/>
          <a:lstStyle/>
          <a:p>
            <a:pPr algn="l"/>
            <a:r>
              <a:rPr sz="900" b="1">
                <a:solidFill>
                  <a:srgbClr val="2B2A28"/>
                </a:solidFill>
                <a:latin typeface="Malgun Gothic"/>
              </a:rPr>
              <a:t>［ 범례 / 읽는 법 ］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일반 선 : 공시 → 데이터 → 도구 (추출 흐름)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굵은 선 : 기반 도구를 불러 합침 (오케스트레이션)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점선 : 종합 도구가 공시를 직접 조회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★ TOOL OF TOOLS : 여러 도구를 모아 최종 판단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색상 = 컬럼(공시유형·이름·데이터·도구·종합) 구분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• 약어 : MCP=AI 도구호출 규약 · rcept_no=공시 접수번호</a:t>
            </a:r>
          </a:p>
          <a:p>
            <a:pPr algn="l"/>
            <a:r>
              <a:rPr sz="780" b="0">
                <a:solidFill>
                  <a:srgbClr val="2B2A28"/>
                </a:solidFill>
                <a:latin typeface="Malgun Gothic"/>
              </a:rPr>
              <a:t>          DPS=주당배당금 · BS/IS/CF=재무상태표/손익/현금흐름표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