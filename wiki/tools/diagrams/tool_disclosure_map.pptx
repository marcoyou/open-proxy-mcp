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73736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46304"/>
            <a:ext cx="1645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1E1D"/>
                </a:solidFill>
                <a:latin typeface="Malgun Gothic"/>
              </a:rPr>
              <a:t>OpenProxy MCP — 공시 → 데이터 → Tool → 종합 Tool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13232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BC5A38"/>
                </a:solidFill>
                <a:latin typeface="Malgun Gothic"/>
              </a:rPr>
              <a:t>① 공시 타입 (5)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713232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E7388"/>
                </a:solidFill>
                <a:latin typeface="Malgun Gothic"/>
              </a:rPr>
              <a:t>② 공시 이름 (21)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0" y="713232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E7E50"/>
                </a:solidFill>
                <a:latin typeface="Malgun Gothic"/>
              </a:rPr>
              <a:t>③ 추출 데이터 (26)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71323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A87F3C"/>
                </a:solidFill>
                <a:latin typeface="Malgun Gothic"/>
              </a:rPr>
              <a:t>④ 기반 Tool (15)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21640" y="713232"/>
            <a:ext cx="4069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BC5A38"/>
                </a:solidFill>
                <a:latin typeface="Malgun Gothic"/>
              </a:rPr>
              <a:t>⑤ 종합 Tool (오케스트레이터) (3)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874519" y="1416231"/>
            <a:ext cx="137161" cy="581733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874519" y="1779814"/>
            <a:ext cx="137161" cy="1745198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874519" y="2143397"/>
            <a:ext cx="137161" cy="1381615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874519" y="2506980"/>
            <a:ext cx="137161" cy="1018032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874519" y="2870562"/>
            <a:ext cx="137161" cy="654450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874519" y="3234145"/>
            <a:ext cx="137161" cy="290867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874519" y="3597728"/>
            <a:ext cx="137161" cy="1454332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874519" y="3961311"/>
            <a:ext cx="137161" cy="1090749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874519" y="4324894"/>
            <a:ext cx="137161" cy="727166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874519" y="4688477"/>
            <a:ext cx="137161" cy="363583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874519" y="5052060"/>
            <a:ext cx="137161" cy="0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874519" y="5052060"/>
            <a:ext cx="137161" cy="363582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74519" y="5052060"/>
            <a:ext cx="137161" cy="727165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74519" y="5052060"/>
            <a:ext cx="137161" cy="1090748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874519" y="5052060"/>
            <a:ext cx="137161" cy="1454331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874519" y="6579108"/>
            <a:ext cx="137161" cy="290866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874519" y="6579108"/>
            <a:ext cx="137161" cy="654449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874519" y="6579108"/>
            <a:ext cx="137161" cy="1018032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874519" y="6579108"/>
            <a:ext cx="137161" cy="1381614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874519" y="8106155"/>
            <a:ext cx="137161" cy="218150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874519" y="8106155"/>
            <a:ext cx="137161" cy="581733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532120" y="1381271"/>
            <a:ext cx="228600" cy="34960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532120" y="1416231"/>
            <a:ext cx="228600" cy="258703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32120" y="1416231"/>
            <a:ext cx="228600" cy="552366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32120" y="1416231"/>
            <a:ext cx="228600" cy="846029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32120" y="1416231"/>
            <a:ext cx="228600" cy="1139692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32120" y="1779814"/>
            <a:ext cx="228600" cy="1069772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32120" y="2143397"/>
            <a:ext cx="228600" cy="999853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532120" y="2506980"/>
            <a:ext cx="228600" cy="929933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532120" y="2870562"/>
            <a:ext cx="228600" cy="860014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5532120" y="3234145"/>
            <a:ext cx="228600" cy="790094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532120" y="3597728"/>
            <a:ext cx="228600" cy="720174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532120" y="3961311"/>
            <a:ext cx="228600" cy="650254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532120" y="4324894"/>
            <a:ext cx="228600" cy="580334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532120" y="4688477"/>
            <a:ext cx="228600" cy="510414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532120" y="5052060"/>
            <a:ext cx="228600" cy="440494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532120" y="5415642"/>
            <a:ext cx="228600" cy="370575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532120" y="5779225"/>
            <a:ext cx="228600" cy="300655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532120" y="6142808"/>
            <a:ext cx="228600" cy="230735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5532120" y="6506391"/>
            <a:ext cx="228600" cy="160815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532120" y="6869974"/>
            <a:ext cx="228600" cy="90895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5532120" y="6869974"/>
            <a:ext cx="228600" cy="384559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532120" y="7233557"/>
            <a:ext cx="228600" cy="314639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5532120" y="7597140"/>
            <a:ext cx="228600" cy="244719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5532120" y="7960722"/>
            <a:ext cx="228600" cy="174800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5532120" y="8324305"/>
            <a:ext cx="228600" cy="104880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532120" y="8687888"/>
            <a:ext cx="228600" cy="34960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006840" y="1381271"/>
            <a:ext cx="365760" cy="107677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006840" y="1488948"/>
            <a:ext cx="365760" cy="185986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006840" y="1968597"/>
            <a:ext cx="365760" cy="29367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9006840" y="1997964"/>
            <a:ext cx="365760" cy="3200927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006840" y="2262260"/>
            <a:ext cx="365760" cy="244720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006840" y="2506980"/>
            <a:ext cx="365760" cy="48943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9006840" y="2506980"/>
            <a:ext cx="365760" cy="4453889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9006840" y="2506980"/>
            <a:ext cx="365760" cy="5041216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9006840" y="2849586"/>
            <a:ext cx="365760" cy="166410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9006840" y="3015996"/>
            <a:ext cx="365760" cy="1889232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006840" y="3143250"/>
            <a:ext cx="365760" cy="381762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9006840" y="3436913"/>
            <a:ext cx="365760" cy="597115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006840" y="3730576"/>
            <a:ext cx="365760" cy="812468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9006840" y="4024239"/>
            <a:ext cx="365760" cy="1027821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9006840" y="5052060"/>
            <a:ext cx="365760" cy="1321483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9006840" y="4317902"/>
            <a:ext cx="365760" cy="1243174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9006840" y="4611565"/>
            <a:ext cx="365760" cy="1458527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9006840" y="5492554"/>
            <a:ext cx="365760" cy="1086554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006840" y="5786217"/>
            <a:ext cx="365760" cy="1301907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9006840" y="6079880"/>
            <a:ext cx="365760" cy="1517260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9006840" y="8106156"/>
            <a:ext cx="365760" cy="323029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9006840" y="8615171"/>
            <a:ext cx="365760" cy="107677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2664440" y="2506980"/>
            <a:ext cx="457200" cy="4099560"/>
          </a:xfrm>
          <a:prstGeom prst="line">
            <a:avLst/>
          </a:prstGeom>
          <a:ln w="19050">
            <a:solidFill>
              <a:srgbClr val="CC785C">
                <a:alpha val="9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2664440" y="6070092"/>
            <a:ext cx="457200" cy="536448"/>
          </a:xfrm>
          <a:prstGeom prst="line">
            <a:avLst/>
          </a:prstGeom>
          <a:ln w="19050">
            <a:solidFill>
              <a:srgbClr val="CC785C">
                <a:alpha val="9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2664440" y="1488948"/>
            <a:ext cx="457200" cy="2442972"/>
          </a:xfrm>
          <a:prstGeom prst="line">
            <a:avLst/>
          </a:prstGeom>
          <a:ln w="19050">
            <a:solidFill>
              <a:srgbClr val="CC785C">
                <a:alpha val="9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2664440" y="1997964"/>
            <a:ext cx="457200" cy="1933956"/>
          </a:xfrm>
          <a:prstGeom prst="line">
            <a:avLst/>
          </a:prstGeom>
          <a:ln w="19050">
            <a:solidFill>
              <a:srgbClr val="CC785C">
                <a:alpha val="9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2664440" y="2506980"/>
            <a:ext cx="457200" cy="1424940"/>
          </a:xfrm>
          <a:prstGeom prst="line">
            <a:avLst/>
          </a:prstGeom>
          <a:ln w="19050">
            <a:solidFill>
              <a:srgbClr val="CC785C">
                <a:alpha val="9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2664440" y="3015996"/>
            <a:ext cx="457200" cy="915924"/>
          </a:xfrm>
          <a:prstGeom prst="line">
            <a:avLst/>
          </a:prstGeom>
          <a:ln w="19050">
            <a:solidFill>
              <a:srgbClr val="CC785C">
                <a:alpha val="9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2664440" y="3931920"/>
            <a:ext cx="457200" cy="2647188"/>
          </a:xfrm>
          <a:prstGeom prst="line">
            <a:avLst/>
          </a:prstGeom>
          <a:ln w="19050">
            <a:solidFill>
              <a:srgbClr val="CC785C">
                <a:alpha val="9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12664440" y="3931920"/>
            <a:ext cx="457200" cy="3156204"/>
          </a:xfrm>
          <a:prstGeom prst="line">
            <a:avLst/>
          </a:prstGeom>
          <a:ln w="19050">
            <a:solidFill>
              <a:srgbClr val="CC785C">
                <a:alpha val="9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12664440" y="3931920"/>
            <a:ext cx="457200" cy="1629156"/>
          </a:xfrm>
          <a:prstGeom prst="line">
            <a:avLst/>
          </a:prstGeom>
          <a:ln w="19050">
            <a:solidFill>
              <a:srgbClr val="CC785C">
                <a:alpha val="9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9006840" y="6606540"/>
            <a:ext cx="4114800" cy="647993"/>
          </a:xfrm>
          <a:prstGeom prst="line">
            <a:avLst/>
          </a:prstGeom>
          <a:ln w="11430">
            <a:solidFill>
              <a:srgbClr val="9A8C7A">
                <a:alpha val="5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9006840" y="6606540"/>
            <a:ext cx="4114800" cy="60666"/>
          </a:xfrm>
          <a:prstGeom prst="line">
            <a:avLst/>
          </a:prstGeom>
          <a:ln w="11430">
            <a:solidFill>
              <a:srgbClr val="9A8C7A">
                <a:alpha val="5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9006840" y="6606540"/>
            <a:ext cx="4114800" cy="1235319"/>
          </a:xfrm>
          <a:prstGeom prst="line">
            <a:avLst/>
          </a:prstGeom>
          <a:ln w="11430">
            <a:solidFill>
              <a:srgbClr val="9A8C7A">
                <a:alpha val="5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9006840" y="6606540"/>
            <a:ext cx="4114800" cy="1528982"/>
          </a:xfrm>
          <a:prstGeom prst="line">
            <a:avLst/>
          </a:prstGeom>
          <a:ln w="11430">
            <a:solidFill>
              <a:srgbClr val="9A8C7A">
                <a:alpha val="5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13121640" y="1604772"/>
            <a:ext cx="4069080" cy="2327148"/>
          </a:xfrm>
          <a:prstGeom prst="line">
            <a:avLst/>
          </a:prstGeom>
          <a:ln w="17780">
            <a:solidFill>
              <a:srgbClr val="C09A5B">
                <a:alpha val="9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274320" y="1872234"/>
            <a:ext cx="1600200" cy="251460"/>
          </a:xfrm>
          <a:prstGeom prst="roundRect">
            <a:avLst/>
          </a:prstGeom>
          <a:solidFill>
            <a:srgbClr val="F3DCD2"/>
          </a:solidFill>
          <a:ln w="12700">
            <a:solidFill>
              <a:srgbClr val="CC7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정기보고서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74320" y="3399282"/>
            <a:ext cx="1600200" cy="251460"/>
          </a:xfrm>
          <a:prstGeom prst="roundRect">
            <a:avLst/>
          </a:prstGeom>
          <a:solidFill>
            <a:srgbClr val="F3DCD2"/>
          </a:solidFill>
          <a:ln w="12700">
            <a:solidFill>
              <a:srgbClr val="CC7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주요사항보고서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74320" y="4926330"/>
            <a:ext cx="1600200" cy="251460"/>
          </a:xfrm>
          <a:prstGeom prst="roundRect">
            <a:avLst/>
          </a:prstGeom>
          <a:solidFill>
            <a:srgbClr val="F3DCD2"/>
          </a:solidFill>
          <a:ln w="12700">
            <a:solidFill>
              <a:srgbClr val="CC7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거래소 수시공시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74320" y="6453378"/>
            <a:ext cx="1600200" cy="251460"/>
          </a:xfrm>
          <a:prstGeom prst="roundRect">
            <a:avLst/>
          </a:prstGeom>
          <a:solidFill>
            <a:srgbClr val="F3DCD2"/>
          </a:solidFill>
          <a:ln w="12700">
            <a:solidFill>
              <a:srgbClr val="CC7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대량보유·지분 보고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74320" y="7980425"/>
            <a:ext cx="1600200" cy="251460"/>
          </a:xfrm>
          <a:prstGeom prst="roundRect">
            <a:avLst/>
          </a:prstGeom>
          <a:solidFill>
            <a:srgbClr val="F3DCD2"/>
          </a:solidFill>
          <a:ln w="12700">
            <a:solidFill>
              <a:srgbClr val="CC7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공시 메타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011680" y="1290501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사업·반기·분기보고서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011680" y="1654084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자기주식 취득·처분·신탁 결정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011680" y="2017667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유상증자·CB·BW·감자 결정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011680" y="2381250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합병·분할·주식교환 결정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011680" y="2744832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타법인주식 양수·양도 결정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011680" y="3108415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회생·부도·영업정지·해산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011680" y="3471998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주주총회 소집공고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011680" y="3835581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주주총회 결과(의결권행사)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011680" y="4199164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자기주식 결과보고서·소각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2011680" y="4562747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현금·현물배당 결정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2011680" y="4926330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단일판매·공급계약 체결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011680" y="5289912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기업지배구조보고서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011680" y="5653495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기업가치제고계획(밸류업)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011680" y="6017078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중대재해·횡령배임·생산중단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2011680" y="6380661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경영권분쟁소송 제기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011680" y="6744244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5% 대량보유상황보고서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011680" y="7107827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최대주주 소유주식 변동신고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011680" y="7471410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의결권 대리행사 권유(위임장)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011680" y="7834992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공개매수 신고서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2011680" y="8198575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전체 공시 목록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011680" y="8562158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rcept_no 메타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5760720" y="1255541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재무제표(BS·IS·CF)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760720" y="1549204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감사의견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760720" y="1842867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배당에 관한 사항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760720" y="2136530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최대주주·특수관계인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760720" y="2430193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주식총수·자기주식 현황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760720" y="2723856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취득·처분·신탁 조건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5760720" y="3017520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발행조건·잠재희석률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5760720" y="3311183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합병비율·외부평가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5760720" y="3604846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상대방·금액·자산대비%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760720" y="3898509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발생사실·금액·법원(도산·정지)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760720" y="4192172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안건·이사후보·보수한도·정관변경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760720" y="4485835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안건별 가결/부결·찬반율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5760720" y="4779498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실제 취득·처분·소각 수량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760720" y="5073161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DPS·배당총액·기준일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760720" y="5366824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계약금액·매출대비%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760720" y="5660487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15개 지표 준수율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760720" y="5954150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약속문장·이행현황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5760720" y="6247813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사상자·혐의금액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760720" y="6541476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소송 단계·당사자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760720" y="6835139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공동보유자 분해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760720" y="7128803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5% 동학(매집·목적)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5760720" y="7422466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최대주주 지분 변동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760720" y="7716129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위임장 권유 내역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760720" y="8009792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공개매수 신고내역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5760720" y="8303455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회사 식별·공시 인덱스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760720" y="8597118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공시일·소스·뷰어 URL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9372600" y="1363218"/>
            <a:ext cx="329184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financial_metrics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9372600" y="1872234"/>
            <a:ext cx="329184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dividend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9372600" y="2381250"/>
            <a:ext cx="329184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ownership_structure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9372600" y="2890266"/>
            <a:ext cx="329184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treasury_share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9372600" y="3399282"/>
            <a:ext cx="329184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dilutive_issuance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9372600" y="3908298"/>
            <a:ext cx="329184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corporate_restructuring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9372600" y="4417314"/>
            <a:ext cx="329184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corporate_deals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9372600" y="4926330"/>
            <a:ext cx="329184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risk_events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9372600" y="5435346"/>
            <a:ext cx="329184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shareholder_meeting_notice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9372600" y="5944362"/>
            <a:ext cx="329184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shareholder_meeting_results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9372600" y="6453378"/>
            <a:ext cx="329184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order_contracts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9372600" y="6962394"/>
            <a:ext cx="329184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corp_gov_report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9372600" y="7471410"/>
            <a:ext cx="329184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value_up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9372600" y="7980426"/>
            <a:ext cx="329184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company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9372600" y="8489442"/>
            <a:ext cx="329184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evidence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13121640" y="1353312"/>
            <a:ext cx="4069080" cy="50292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상법 법령 레이어</a:t>
            </a:r>
          </a:p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(wiki/rules/laws)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13121640" y="3429000"/>
            <a:ext cx="4069080" cy="1005840"/>
          </a:xfrm>
          <a:prstGeom prst="roundRect">
            <a:avLst/>
          </a:prstGeom>
          <a:solidFill>
            <a:srgbClr val="EFC9B8"/>
          </a:solidFill>
          <a:ln w="25400">
            <a:solidFill>
              <a:srgbClr val="CC7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950" b="1">
                <a:solidFill>
                  <a:srgbClr val="2B2A28"/>
                </a:solidFill>
                <a:latin typeface="Malgun Gothic"/>
              </a:rPr>
              <a:t>proxy_advise_before_meeting</a:t>
            </a:r>
          </a:p>
          <a:p>
            <a:pPr algn="ctr"/>
            <a:r>
              <a:rPr sz="800" b="0">
                <a:solidFill>
                  <a:srgbClr val="2B2A28"/>
                </a:solidFill>
                <a:latin typeface="Malgun Gothic"/>
              </a:rPr>
              <a:t>★ TOOL OF TOOLS ★</a:t>
            </a:r>
          </a:p>
          <a:p>
            <a:pPr algn="ctr"/>
            <a:r>
              <a:rPr sz="800" b="0">
                <a:solidFill>
                  <a:srgbClr val="2B2A28"/>
                </a:solidFill>
                <a:latin typeface="Malgun Gothic"/>
              </a:rPr>
              <a:t>내부: director_evaluation</a:t>
            </a:r>
          </a:p>
          <a:p>
            <a:pPr algn="ctr"/>
            <a:r>
              <a:rPr sz="800" b="0">
                <a:solidFill>
                  <a:srgbClr val="2B2A28"/>
                </a:solidFill>
                <a:latin typeface="Malgun Gothic"/>
              </a:rPr>
              <a:t>→ 안건별 의결권 권고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13121640" y="6172200"/>
            <a:ext cx="4069080" cy="868680"/>
          </a:xfrm>
          <a:prstGeom prst="roundRect">
            <a:avLst/>
          </a:prstGeom>
          <a:solidFill>
            <a:srgbClr val="EFC9B8"/>
          </a:solidFill>
          <a:ln w="25400">
            <a:solidFill>
              <a:srgbClr val="CC7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950" b="1">
                <a:solidFill>
                  <a:srgbClr val="2B2A28"/>
                </a:solidFill>
                <a:latin typeface="Malgun Gothic"/>
              </a:rPr>
              <a:t>proxy_contest</a:t>
            </a:r>
          </a:p>
          <a:p>
            <a:pPr algn="ctr"/>
            <a:r>
              <a:rPr sz="800" b="0">
                <a:solidFill>
                  <a:srgbClr val="2B2A28"/>
                </a:solidFill>
                <a:latin typeface="Malgun Gothic"/>
              </a:rPr>
              <a:t>→ 경영권 분쟁 신호</a:t>
            </a:r>
          </a:p>
          <a:p>
            <a:pPr algn="ctr"/>
            <a:r>
              <a:rPr sz="800" b="0">
                <a:solidFill>
                  <a:srgbClr val="2B2A28"/>
                </a:solidFill>
                <a:latin typeface="Malgun Gothic"/>
              </a:rPr>
              <a:t>(+ 소송·위임장·공개매수·5% 공시 직접조회)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