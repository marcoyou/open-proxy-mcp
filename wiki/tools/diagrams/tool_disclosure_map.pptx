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7373600" cy="9144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46304"/>
            <a:ext cx="1645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1E1D"/>
                </a:solidFill>
                <a:latin typeface="Malgun Gothic"/>
              </a:rPr>
              <a:t>OpenProxy MCP — 공시 → 데이터 → Tool → 종합 Tool 매핑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713232"/>
            <a:ext cx="1600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BC5A38"/>
                </a:solidFill>
                <a:latin typeface="Malgun Gothic"/>
              </a:rPr>
              <a:t>① 공시 타입 (5)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713232"/>
            <a:ext cx="3520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5E7388"/>
                </a:solidFill>
                <a:latin typeface="Malgun Gothic"/>
              </a:rPr>
              <a:t>② 공시 이름 (21)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720" y="713232"/>
            <a:ext cx="3246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6E7E50"/>
                </a:solidFill>
                <a:latin typeface="Malgun Gothic"/>
              </a:rPr>
              <a:t>③ 추출 데이터 (26)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72600" y="713232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A87F3C"/>
                </a:solidFill>
                <a:latin typeface="Malgun Gothic"/>
              </a:rPr>
              <a:t>④ 기반 Tool (15)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121640" y="713232"/>
            <a:ext cx="4069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BC5A38"/>
                </a:solidFill>
                <a:latin typeface="Malgun Gothic"/>
              </a:rPr>
              <a:t>⑤ 종합 Tool (오케스트레이터) (3)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1874519" y="1416231"/>
            <a:ext cx="137161" cy="581733"/>
          </a:xfrm>
          <a:prstGeom prst="line">
            <a:avLst/>
          </a:prstGeom>
          <a:ln w="9525">
            <a:solidFill>
              <a:srgbClr val="CC785C">
                <a:alpha val="5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1874519" y="1779814"/>
            <a:ext cx="137161" cy="1745198"/>
          </a:xfrm>
          <a:prstGeom prst="line">
            <a:avLst/>
          </a:prstGeom>
          <a:ln w="9525">
            <a:solidFill>
              <a:srgbClr val="CC785C">
                <a:alpha val="5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1874519" y="2143397"/>
            <a:ext cx="137161" cy="1381615"/>
          </a:xfrm>
          <a:prstGeom prst="line">
            <a:avLst/>
          </a:prstGeom>
          <a:ln w="9525">
            <a:solidFill>
              <a:srgbClr val="CC785C">
                <a:alpha val="5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1874519" y="2506980"/>
            <a:ext cx="137161" cy="1018032"/>
          </a:xfrm>
          <a:prstGeom prst="line">
            <a:avLst/>
          </a:prstGeom>
          <a:ln w="9525">
            <a:solidFill>
              <a:srgbClr val="CC785C">
                <a:alpha val="5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874519" y="2870562"/>
            <a:ext cx="137161" cy="654450"/>
          </a:xfrm>
          <a:prstGeom prst="line">
            <a:avLst/>
          </a:prstGeom>
          <a:ln w="9525">
            <a:solidFill>
              <a:srgbClr val="CC785C">
                <a:alpha val="5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1874519" y="3234145"/>
            <a:ext cx="137161" cy="290867"/>
          </a:xfrm>
          <a:prstGeom prst="line">
            <a:avLst/>
          </a:prstGeom>
          <a:ln w="9525">
            <a:solidFill>
              <a:srgbClr val="CC785C">
                <a:alpha val="5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1874519" y="3597728"/>
            <a:ext cx="137161" cy="1454332"/>
          </a:xfrm>
          <a:prstGeom prst="line">
            <a:avLst/>
          </a:prstGeom>
          <a:ln w="9525">
            <a:solidFill>
              <a:srgbClr val="CC785C">
                <a:alpha val="5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1874519" y="3961311"/>
            <a:ext cx="137161" cy="1090749"/>
          </a:xfrm>
          <a:prstGeom prst="line">
            <a:avLst/>
          </a:prstGeom>
          <a:ln w="9525">
            <a:solidFill>
              <a:srgbClr val="CC785C">
                <a:alpha val="5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1874519" y="4324894"/>
            <a:ext cx="137161" cy="727166"/>
          </a:xfrm>
          <a:prstGeom prst="line">
            <a:avLst/>
          </a:prstGeom>
          <a:ln w="9525">
            <a:solidFill>
              <a:srgbClr val="CC785C">
                <a:alpha val="5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1874519" y="4688477"/>
            <a:ext cx="137161" cy="363583"/>
          </a:xfrm>
          <a:prstGeom prst="line">
            <a:avLst/>
          </a:prstGeom>
          <a:ln w="9525">
            <a:solidFill>
              <a:srgbClr val="CC785C">
                <a:alpha val="5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874519" y="5052060"/>
            <a:ext cx="137161" cy="0"/>
          </a:xfrm>
          <a:prstGeom prst="line">
            <a:avLst/>
          </a:prstGeom>
          <a:ln w="9525">
            <a:solidFill>
              <a:srgbClr val="CC785C">
                <a:alpha val="5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874519" y="5052060"/>
            <a:ext cx="137161" cy="363582"/>
          </a:xfrm>
          <a:prstGeom prst="line">
            <a:avLst/>
          </a:prstGeom>
          <a:ln w="9525">
            <a:solidFill>
              <a:srgbClr val="CC785C">
                <a:alpha val="5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874519" y="5052060"/>
            <a:ext cx="137161" cy="727165"/>
          </a:xfrm>
          <a:prstGeom prst="line">
            <a:avLst/>
          </a:prstGeom>
          <a:ln w="9525">
            <a:solidFill>
              <a:srgbClr val="CC785C">
                <a:alpha val="5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874519" y="5052060"/>
            <a:ext cx="137161" cy="1090748"/>
          </a:xfrm>
          <a:prstGeom prst="line">
            <a:avLst/>
          </a:prstGeom>
          <a:ln w="9525">
            <a:solidFill>
              <a:srgbClr val="CC785C">
                <a:alpha val="5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874519" y="5052060"/>
            <a:ext cx="137161" cy="1454331"/>
          </a:xfrm>
          <a:prstGeom prst="line">
            <a:avLst/>
          </a:prstGeom>
          <a:ln w="9525">
            <a:solidFill>
              <a:srgbClr val="CC785C">
                <a:alpha val="5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874519" y="6579108"/>
            <a:ext cx="137161" cy="290866"/>
          </a:xfrm>
          <a:prstGeom prst="line">
            <a:avLst/>
          </a:prstGeom>
          <a:ln w="9525">
            <a:solidFill>
              <a:srgbClr val="CC785C">
                <a:alpha val="5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874519" y="6579108"/>
            <a:ext cx="137161" cy="654449"/>
          </a:xfrm>
          <a:prstGeom prst="line">
            <a:avLst/>
          </a:prstGeom>
          <a:ln w="9525">
            <a:solidFill>
              <a:srgbClr val="CC785C">
                <a:alpha val="5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874519" y="6579108"/>
            <a:ext cx="137161" cy="1018032"/>
          </a:xfrm>
          <a:prstGeom prst="line">
            <a:avLst/>
          </a:prstGeom>
          <a:ln w="9525">
            <a:solidFill>
              <a:srgbClr val="CC785C">
                <a:alpha val="5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874519" y="6579108"/>
            <a:ext cx="137161" cy="1381614"/>
          </a:xfrm>
          <a:prstGeom prst="line">
            <a:avLst/>
          </a:prstGeom>
          <a:ln w="9525">
            <a:solidFill>
              <a:srgbClr val="CC785C">
                <a:alpha val="5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1874519" y="8106155"/>
            <a:ext cx="137161" cy="218150"/>
          </a:xfrm>
          <a:prstGeom prst="line">
            <a:avLst/>
          </a:prstGeom>
          <a:ln w="9525">
            <a:solidFill>
              <a:srgbClr val="CC785C">
                <a:alpha val="5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874519" y="8106155"/>
            <a:ext cx="137161" cy="581733"/>
          </a:xfrm>
          <a:prstGeom prst="line">
            <a:avLst/>
          </a:prstGeom>
          <a:ln w="9525">
            <a:solidFill>
              <a:srgbClr val="CC785C">
                <a:alpha val="5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5532120" y="1381271"/>
            <a:ext cx="228600" cy="34960"/>
          </a:xfrm>
          <a:prstGeom prst="line">
            <a:avLst/>
          </a:prstGeom>
          <a:ln w="9525">
            <a:solidFill>
              <a:srgbClr val="7C93A8">
                <a:alpha val="5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532120" y="1416231"/>
            <a:ext cx="228600" cy="258703"/>
          </a:xfrm>
          <a:prstGeom prst="line">
            <a:avLst/>
          </a:prstGeom>
          <a:ln w="9525">
            <a:solidFill>
              <a:srgbClr val="7C93A8">
                <a:alpha val="5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32120" y="1416231"/>
            <a:ext cx="228600" cy="552366"/>
          </a:xfrm>
          <a:prstGeom prst="line">
            <a:avLst/>
          </a:prstGeom>
          <a:ln w="9525">
            <a:solidFill>
              <a:srgbClr val="7C93A8">
                <a:alpha val="5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32120" y="1416231"/>
            <a:ext cx="228600" cy="846029"/>
          </a:xfrm>
          <a:prstGeom prst="line">
            <a:avLst/>
          </a:prstGeom>
          <a:ln w="9525">
            <a:solidFill>
              <a:srgbClr val="7C93A8">
                <a:alpha val="5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32120" y="1416231"/>
            <a:ext cx="228600" cy="1139692"/>
          </a:xfrm>
          <a:prstGeom prst="line">
            <a:avLst/>
          </a:prstGeom>
          <a:ln w="9525">
            <a:solidFill>
              <a:srgbClr val="7C93A8">
                <a:alpha val="5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32120" y="1779814"/>
            <a:ext cx="228600" cy="1069772"/>
          </a:xfrm>
          <a:prstGeom prst="line">
            <a:avLst/>
          </a:prstGeom>
          <a:ln w="9525">
            <a:solidFill>
              <a:srgbClr val="7C93A8">
                <a:alpha val="5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32120" y="2143397"/>
            <a:ext cx="228600" cy="999853"/>
          </a:xfrm>
          <a:prstGeom prst="line">
            <a:avLst/>
          </a:prstGeom>
          <a:ln w="9525">
            <a:solidFill>
              <a:srgbClr val="7C93A8">
                <a:alpha val="5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5532120" y="2506980"/>
            <a:ext cx="228600" cy="929933"/>
          </a:xfrm>
          <a:prstGeom prst="line">
            <a:avLst/>
          </a:prstGeom>
          <a:ln w="9525">
            <a:solidFill>
              <a:srgbClr val="7C93A8">
                <a:alpha val="5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5532120" y="2870562"/>
            <a:ext cx="228600" cy="860014"/>
          </a:xfrm>
          <a:prstGeom prst="line">
            <a:avLst/>
          </a:prstGeom>
          <a:ln w="9525">
            <a:solidFill>
              <a:srgbClr val="7C93A8">
                <a:alpha val="5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5532120" y="3234145"/>
            <a:ext cx="228600" cy="790094"/>
          </a:xfrm>
          <a:prstGeom prst="line">
            <a:avLst/>
          </a:prstGeom>
          <a:ln w="9525">
            <a:solidFill>
              <a:srgbClr val="7C93A8">
                <a:alpha val="5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5532120" y="3597728"/>
            <a:ext cx="228600" cy="720174"/>
          </a:xfrm>
          <a:prstGeom prst="line">
            <a:avLst/>
          </a:prstGeom>
          <a:ln w="9525">
            <a:solidFill>
              <a:srgbClr val="7C93A8">
                <a:alpha val="5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5532120" y="3961311"/>
            <a:ext cx="228600" cy="650254"/>
          </a:xfrm>
          <a:prstGeom prst="line">
            <a:avLst/>
          </a:prstGeom>
          <a:ln w="9525">
            <a:solidFill>
              <a:srgbClr val="7C93A8">
                <a:alpha val="5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5532120" y="4324894"/>
            <a:ext cx="228600" cy="580334"/>
          </a:xfrm>
          <a:prstGeom prst="line">
            <a:avLst/>
          </a:prstGeom>
          <a:ln w="9525">
            <a:solidFill>
              <a:srgbClr val="7C93A8">
                <a:alpha val="5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5532120" y="4688477"/>
            <a:ext cx="228600" cy="510414"/>
          </a:xfrm>
          <a:prstGeom prst="line">
            <a:avLst/>
          </a:prstGeom>
          <a:ln w="9525">
            <a:solidFill>
              <a:srgbClr val="7C93A8">
                <a:alpha val="5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5532120" y="5052060"/>
            <a:ext cx="228600" cy="440494"/>
          </a:xfrm>
          <a:prstGeom prst="line">
            <a:avLst/>
          </a:prstGeom>
          <a:ln w="9525">
            <a:solidFill>
              <a:srgbClr val="7C93A8">
                <a:alpha val="5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5532120" y="5415642"/>
            <a:ext cx="228600" cy="370575"/>
          </a:xfrm>
          <a:prstGeom prst="line">
            <a:avLst/>
          </a:prstGeom>
          <a:ln w="9525">
            <a:solidFill>
              <a:srgbClr val="7C93A8">
                <a:alpha val="5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5532120" y="5779225"/>
            <a:ext cx="228600" cy="300655"/>
          </a:xfrm>
          <a:prstGeom prst="line">
            <a:avLst/>
          </a:prstGeom>
          <a:ln w="9525">
            <a:solidFill>
              <a:srgbClr val="7C93A8">
                <a:alpha val="5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5532120" y="6142808"/>
            <a:ext cx="228600" cy="230735"/>
          </a:xfrm>
          <a:prstGeom prst="line">
            <a:avLst/>
          </a:prstGeom>
          <a:ln w="9525">
            <a:solidFill>
              <a:srgbClr val="7C93A8">
                <a:alpha val="5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5532120" y="6506391"/>
            <a:ext cx="228600" cy="160815"/>
          </a:xfrm>
          <a:prstGeom prst="line">
            <a:avLst/>
          </a:prstGeom>
          <a:ln w="9525">
            <a:solidFill>
              <a:srgbClr val="7C93A8">
                <a:alpha val="5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5532120" y="6869974"/>
            <a:ext cx="228600" cy="90895"/>
          </a:xfrm>
          <a:prstGeom prst="line">
            <a:avLst/>
          </a:prstGeom>
          <a:ln w="9525">
            <a:solidFill>
              <a:srgbClr val="7C93A8">
                <a:alpha val="5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5532120" y="6869974"/>
            <a:ext cx="228600" cy="384559"/>
          </a:xfrm>
          <a:prstGeom prst="line">
            <a:avLst/>
          </a:prstGeom>
          <a:ln w="9525">
            <a:solidFill>
              <a:srgbClr val="7C93A8">
                <a:alpha val="5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5532120" y="7233557"/>
            <a:ext cx="228600" cy="314639"/>
          </a:xfrm>
          <a:prstGeom prst="line">
            <a:avLst/>
          </a:prstGeom>
          <a:ln w="9525">
            <a:solidFill>
              <a:srgbClr val="7C93A8">
                <a:alpha val="5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5532120" y="7597140"/>
            <a:ext cx="228600" cy="244719"/>
          </a:xfrm>
          <a:prstGeom prst="line">
            <a:avLst/>
          </a:prstGeom>
          <a:ln w="9525">
            <a:solidFill>
              <a:srgbClr val="7C93A8">
                <a:alpha val="5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5532120" y="7960722"/>
            <a:ext cx="228600" cy="174800"/>
          </a:xfrm>
          <a:prstGeom prst="line">
            <a:avLst/>
          </a:prstGeom>
          <a:ln w="9525">
            <a:solidFill>
              <a:srgbClr val="7C93A8">
                <a:alpha val="5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5532120" y="8324305"/>
            <a:ext cx="228600" cy="104880"/>
          </a:xfrm>
          <a:prstGeom prst="line">
            <a:avLst/>
          </a:prstGeom>
          <a:ln w="9525">
            <a:solidFill>
              <a:srgbClr val="7C93A8">
                <a:alpha val="5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5532120" y="8687888"/>
            <a:ext cx="228600" cy="34960"/>
          </a:xfrm>
          <a:prstGeom prst="line">
            <a:avLst/>
          </a:prstGeom>
          <a:ln w="9525">
            <a:solidFill>
              <a:srgbClr val="7C93A8">
                <a:alpha val="5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9006840" y="1381271"/>
            <a:ext cx="365760" cy="107677"/>
          </a:xfrm>
          <a:prstGeom prst="line">
            <a:avLst/>
          </a:prstGeom>
          <a:ln w="9525">
            <a:solidFill>
              <a:srgbClr val="8A9A6B">
                <a:alpha val="5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9006840" y="1488948"/>
            <a:ext cx="365760" cy="185986"/>
          </a:xfrm>
          <a:prstGeom prst="line">
            <a:avLst/>
          </a:prstGeom>
          <a:ln w="9525">
            <a:solidFill>
              <a:srgbClr val="8A9A6B">
                <a:alpha val="5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9006840" y="1968597"/>
            <a:ext cx="365760" cy="29367"/>
          </a:xfrm>
          <a:prstGeom prst="line">
            <a:avLst/>
          </a:prstGeom>
          <a:ln w="9525">
            <a:solidFill>
              <a:srgbClr val="8A9A6B">
                <a:alpha val="5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9006840" y="1997964"/>
            <a:ext cx="365760" cy="3200927"/>
          </a:xfrm>
          <a:prstGeom prst="line">
            <a:avLst/>
          </a:prstGeom>
          <a:ln w="9525">
            <a:solidFill>
              <a:srgbClr val="8A9A6B">
                <a:alpha val="5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9006840" y="2262260"/>
            <a:ext cx="365760" cy="244720"/>
          </a:xfrm>
          <a:prstGeom prst="line">
            <a:avLst/>
          </a:prstGeom>
          <a:ln w="9525">
            <a:solidFill>
              <a:srgbClr val="8A9A6B">
                <a:alpha val="5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9006840" y="2506980"/>
            <a:ext cx="365760" cy="48943"/>
          </a:xfrm>
          <a:prstGeom prst="line">
            <a:avLst/>
          </a:prstGeom>
          <a:ln w="9525">
            <a:solidFill>
              <a:srgbClr val="8A9A6B">
                <a:alpha val="5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9006840" y="2506980"/>
            <a:ext cx="365760" cy="4453889"/>
          </a:xfrm>
          <a:prstGeom prst="line">
            <a:avLst/>
          </a:prstGeom>
          <a:ln w="9525">
            <a:solidFill>
              <a:srgbClr val="8A9A6B">
                <a:alpha val="5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9006840" y="2506980"/>
            <a:ext cx="365760" cy="5041216"/>
          </a:xfrm>
          <a:prstGeom prst="line">
            <a:avLst/>
          </a:prstGeom>
          <a:ln w="9525">
            <a:solidFill>
              <a:srgbClr val="8A9A6B">
                <a:alpha val="5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9006840" y="2849586"/>
            <a:ext cx="365760" cy="166410"/>
          </a:xfrm>
          <a:prstGeom prst="line">
            <a:avLst/>
          </a:prstGeom>
          <a:ln w="9525">
            <a:solidFill>
              <a:srgbClr val="8A9A6B">
                <a:alpha val="5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9006840" y="3015996"/>
            <a:ext cx="365760" cy="1889232"/>
          </a:xfrm>
          <a:prstGeom prst="line">
            <a:avLst/>
          </a:prstGeom>
          <a:ln w="9525">
            <a:solidFill>
              <a:srgbClr val="8A9A6B">
                <a:alpha val="5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9006840" y="3143250"/>
            <a:ext cx="365760" cy="381762"/>
          </a:xfrm>
          <a:prstGeom prst="line">
            <a:avLst/>
          </a:prstGeom>
          <a:ln w="9525">
            <a:solidFill>
              <a:srgbClr val="8A9A6B">
                <a:alpha val="5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9006840" y="3436913"/>
            <a:ext cx="365760" cy="597115"/>
          </a:xfrm>
          <a:prstGeom prst="line">
            <a:avLst/>
          </a:prstGeom>
          <a:ln w="9525">
            <a:solidFill>
              <a:srgbClr val="8A9A6B">
                <a:alpha val="5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9006840" y="3730576"/>
            <a:ext cx="365760" cy="812468"/>
          </a:xfrm>
          <a:prstGeom prst="line">
            <a:avLst/>
          </a:prstGeom>
          <a:ln w="9525">
            <a:solidFill>
              <a:srgbClr val="8A9A6B">
                <a:alpha val="5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9006840" y="4024239"/>
            <a:ext cx="365760" cy="1027821"/>
          </a:xfrm>
          <a:prstGeom prst="line">
            <a:avLst/>
          </a:prstGeom>
          <a:ln w="9525">
            <a:solidFill>
              <a:srgbClr val="8A9A6B">
                <a:alpha val="5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9006840" y="5052060"/>
            <a:ext cx="365760" cy="1321483"/>
          </a:xfrm>
          <a:prstGeom prst="line">
            <a:avLst/>
          </a:prstGeom>
          <a:ln w="9525">
            <a:solidFill>
              <a:srgbClr val="8A9A6B">
                <a:alpha val="5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9006840" y="4317902"/>
            <a:ext cx="365760" cy="1243174"/>
          </a:xfrm>
          <a:prstGeom prst="line">
            <a:avLst/>
          </a:prstGeom>
          <a:ln w="9525">
            <a:solidFill>
              <a:srgbClr val="8A9A6B">
                <a:alpha val="5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9006840" y="4611565"/>
            <a:ext cx="365760" cy="1458527"/>
          </a:xfrm>
          <a:prstGeom prst="line">
            <a:avLst/>
          </a:prstGeom>
          <a:ln w="9525">
            <a:solidFill>
              <a:srgbClr val="8A9A6B">
                <a:alpha val="5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9006840" y="5492554"/>
            <a:ext cx="365760" cy="1086554"/>
          </a:xfrm>
          <a:prstGeom prst="line">
            <a:avLst/>
          </a:prstGeom>
          <a:ln w="9525">
            <a:solidFill>
              <a:srgbClr val="8A9A6B">
                <a:alpha val="5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9006840" y="5786217"/>
            <a:ext cx="365760" cy="1301907"/>
          </a:xfrm>
          <a:prstGeom prst="line">
            <a:avLst/>
          </a:prstGeom>
          <a:ln w="9525">
            <a:solidFill>
              <a:srgbClr val="8A9A6B">
                <a:alpha val="5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9006840" y="6079880"/>
            <a:ext cx="365760" cy="1517260"/>
          </a:xfrm>
          <a:prstGeom prst="line">
            <a:avLst/>
          </a:prstGeom>
          <a:ln w="9525">
            <a:solidFill>
              <a:srgbClr val="8A9A6B">
                <a:alpha val="5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9006840" y="8106156"/>
            <a:ext cx="365760" cy="323029"/>
          </a:xfrm>
          <a:prstGeom prst="line">
            <a:avLst/>
          </a:prstGeom>
          <a:ln w="9525">
            <a:solidFill>
              <a:srgbClr val="8A9A6B">
                <a:alpha val="5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9006840" y="8615171"/>
            <a:ext cx="365760" cy="107677"/>
          </a:xfrm>
          <a:prstGeom prst="line">
            <a:avLst/>
          </a:prstGeom>
          <a:ln w="9525">
            <a:solidFill>
              <a:srgbClr val="8A9A6B">
                <a:alpha val="5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12664440" y="2506980"/>
            <a:ext cx="457200" cy="4099560"/>
          </a:xfrm>
          <a:prstGeom prst="line">
            <a:avLst/>
          </a:prstGeom>
          <a:ln w="19050">
            <a:solidFill>
              <a:srgbClr val="CC785C">
                <a:alpha val="9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12664440" y="6070092"/>
            <a:ext cx="457200" cy="536448"/>
          </a:xfrm>
          <a:prstGeom prst="line">
            <a:avLst/>
          </a:prstGeom>
          <a:ln w="19050">
            <a:solidFill>
              <a:srgbClr val="CC785C">
                <a:alpha val="9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12664440" y="1488948"/>
            <a:ext cx="457200" cy="2442972"/>
          </a:xfrm>
          <a:prstGeom prst="line">
            <a:avLst/>
          </a:prstGeom>
          <a:ln w="19050">
            <a:solidFill>
              <a:srgbClr val="CC785C">
                <a:alpha val="9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12664440" y="1997964"/>
            <a:ext cx="457200" cy="1933956"/>
          </a:xfrm>
          <a:prstGeom prst="line">
            <a:avLst/>
          </a:prstGeom>
          <a:ln w="19050">
            <a:solidFill>
              <a:srgbClr val="CC785C">
                <a:alpha val="9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12664440" y="2506980"/>
            <a:ext cx="457200" cy="1424940"/>
          </a:xfrm>
          <a:prstGeom prst="line">
            <a:avLst/>
          </a:prstGeom>
          <a:ln w="19050">
            <a:solidFill>
              <a:srgbClr val="CC785C">
                <a:alpha val="9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12664440" y="3015996"/>
            <a:ext cx="457200" cy="915924"/>
          </a:xfrm>
          <a:prstGeom prst="line">
            <a:avLst/>
          </a:prstGeom>
          <a:ln w="19050">
            <a:solidFill>
              <a:srgbClr val="CC785C">
                <a:alpha val="9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12664440" y="3931920"/>
            <a:ext cx="457200" cy="2647188"/>
          </a:xfrm>
          <a:prstGeom prst="line">
            <a:avLst/>
          </a:prstGeom>
          <a:ln w="19050">
            <a:solidFill>
              <a:srgbClr val="CC785C">
                <a:alpha val="9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V="1">
            <a:off x="12664440" y="3931920"/>
            <a:ext cx="457200" cy="3156204"/>
          </a:xfrm>
          <a:prstGeom prst="line">
            <a:avLst/>
          </a:prstGeom>
          <a:ln w="19050">
            <a:solidFill>
              <a:srgbClr val="CC785C">
                <a:alpha val="9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V="1">
            <a:off x="12664440" y="3931920"/>
            <a:ext cx="457200" cy="1629156"/>
          </a:xfrm>
          <a:prstGeom prst="line">
            <a:avLst/>
          </a:prstGeom>
          <a:ln w="19050">
            <a:solidFill>
              <a:srgbClr val="CC785C">
                <a:alpha val="9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V="1">
            <a:off x="9006840" y="6606540"/>
            <a:ext cx="4114800" cy="647993"/>
          </a:xfrm>
          <a:prstGeom prst="line">
            <a:avLst/>
          </a:prstGeom>
          <a:ln w="11430">
            <a:solidFill>
              <a:srgbClr val="9A8C7A">
                <a:alpha val="55000"/>
              </a:srgb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V="1">
            <a:off x="9006840" y="6606540"/>
            <a:ext cx="4114800" cy="60666"/>
          </a:xfrm>
          <a:prstGeom prst="line">
            <a:avLst/>
          </a:prstGeom>
          <a:ln w="11430">
            <a:solidFill>
              <a:srgbClr val="9A8C7A">
                <a:alpha val="55000"/>
              </a:srgb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V="1">
            <a:off x="9006840" y="6606540"/>
            <a:ext cx="4114800" cy="1235319"/>
          </a:xfrm>
          <a:prstGeom prst="line">
            <a:avLst/>
          </a:prstGeom>
          <a:ln w="11430">
            <a:solidFill>
              <a:srgbClr val="9A8C7A">
                <a:alpha val="55000"/>
              </a:srgb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V="1">
            <a:off x="9006840" y="6606540"/>
            <a:ext cx="4114800" cy="1528982"/>
          </a:xfrm>
          <a:prstGeom prst="line">
            <a:avLst/>
          </a:prstGeom>
          <a:ln w="11430">
            <a:solidFill>
              <a:srgbClr val="9A8C7A">
                <a:alpha val="55000"/>
              </a:srgb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H="1">
            <a:off x="13121640" y="1604772"/>
            <a:ext cx="4069080" cy="2327148"/>
          </a:xfrm>
          <a:prstGeom prst="line">
            <a:avLst/>
          </a:prstGeom>
          <a:ln w="17780">
            <a:solidFill>
              <a:srgbClr val="C09A5B">
                <a:alpha val="9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Rounded Rectangle 90"/>
          <p:cNvSpPr/>
          <p:nvPr/>
        </p:nvSpPr>
        <p:spPr>
          <a:xfrm>
            <a:off x="274320" y="1872234"/>
            <a:ext cx="1600200" cy="251460"/>
          </a:xfrm>
          <a:prstGeom prst="roundRect">
            <a:avLst/>
          </a:prstGeom>
          <a:solidFill>
            <a:srgbClr val="F3DCD2"/>
          </a:solidFill>
          <a:ln w="12700">
            <a:solidFill>
              <a:srgbClr val="CC7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4000" bIns="4000"/>
          <a:lstStyle/>
          <a:p>
            <a:pPr algn="ctr"/>
            <a:r>
              <a:rPr sz="850" b="0">
                <a:solidFill>
                  <a:srgbClr val="2B2A28"/>
                </a:solidFill>
                <a:latin typeface="Malgun Gothic"/>
              </a:rPr>
              <a:t>정기보고서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274320" y="3399282"/>
            <a:ext cx="1600200" cy="251460"/>
          </a:xfrm>
          <a:prstGeom prst="roundRect">
            <a:avLst/>
          </a:prstGeom>
          <a:solidFill>
            <a:srgbClr val="F3DCD2"/>
          </a:solidFill>
          <a:ln w="12700">
            <a:solidFill>
              <a:srgbClr val="CC7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4000" bIns="4000"/>
          <a:lstStyle/>
          <a:p>
            <a:pPr algn="ctr"/>
            <a:r>
              <a:rPr sz="850" b="0">
                <a:solidFill>
                  <a:srgbClr val="2B2A28"/>
                </a:solidFill>
                <a:latin typeface="Malgun Gothic"/>
              </a:rPr>
              <a:t>주요사항보고서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274320" y="4926330"/>
            <a:ext cx="1600200" cy="251460"/>
          </a:xfrm>
          <a:prstGeom prst="roundRect">
            <a:avLst/>
          </a:prstGeom>
          <a:solidFill>
            <a:srgbClr val="F3DCD2"/>
          </a:solidFill>
          <a:ln w="12700">
            <a:solidFill>
              <a:srgbClr val="CC7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4000" bIns="4000"/>
          <a:lstStyle/>
          <a:p>
            <a:pPr algn="ctr"/>
            <a:r>
              <a:rPr sz="850" b="0">
                <a:solidFill>
                  <a:srgbClr val="2B2A28"/>
                </a:solidFill>
                <a:latin typeface="Malgun Gothic"/>
              </a:rPr>
              <a:t>거래소 수시공시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274320" y="6453378"/>
            <a:ext cx="1600200" cy="251460"/>
          </a:xfrm>
          <a:prstGeom prst="roundRect">
            <a:avLst/>
          </a:prstGeom>
          <a:solidFill>
            <a:srgbClr val="F3DCD2"/>
          </a:solidFill>
          <a:ln w="12700">
            <a:solidFill>
              <a:srgbClr val="CC7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4000" bIns="4000"/>
          <a:lstStyle/>
          <a:p>
            <a:pPr algn="ctr"/>
            <a:r>
              <a:rPr sz="850" b="0">
                <a:solidFill>
                  <a:srgbClr val="2B2A28"/>
                </a:solidFill>
                <a:latin typeface="Malgun Gothic"/>
              </a:rPr>
              <a:t>대량보유·지분 보고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274320" y="7980425"/>
            <a:ext cx="1600200" cy="251460"/>
          </a:xfrm>
          <a:prstGeom prst="roundRect">
            <a:avLst/>
          </a:prstGeom>
          <a:solidFill>
            <a:srgbClr val="F3DCD2"/>
          </a:solidFill>
          <a:ln w="12700">
            <a:solidFill>
              <a:srgbClr val="CC7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4000" bIns="4000"/>
          <a:lstStyle/>
          <a:p>
            <a:pPr algn="ctr"/>
            <a:r>
              <a:rPr sz="850" b="0">
                <a:solidFill>
                  <a:srgbClr val="2B2A28"/>
                </a:solidFill>
                <a:latin typeface="Malgun Gothic"/>
              </a:rPr>
              <a:t>공시 메타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2011680" y="1290501"/>
            <a:ext cx="3520440" cy="251460"/>
          </a:xfrm>
          <a:prstGeom prst="roundRect">
            <a:avLst/>
          </a:prstGeom>
          <a:solidFill>
            <a:srgbClr val="DEE6EC"/>
          </a:solidFill>
          <a:ln w="12700">
            <a:solidFill>
              <a:srgbClr val="7C93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4000" bIns="4000"/>
          <a:lstStyle/>
          <a:p>
            <a:pPr algn="ctr"/>
            <a:r>
              <a:rPr sz="850" b="0">
                <a:solidFill>
                  <a:srgbClr val="2B2A28"/>
                </a:solidFill>
                <a:latin typeface="Malgun Gothic"/>
              </a:rPr>
              <a:t>사업·반기·분기보고서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2011680" y="1654084"/>
            <a:ext cx="3520440" cy="251460"/>
          </a:xfrm>
          <a:prstGeom prst="roundRect">
            <a:avLst/>
          </a:prstGeom>
          <a:solidFill>
            <a:srgbClr val="DEE6EC"/>
          </a:solidFill>
          <a:ln w="12700">
            <a:solidFill>
              <a:srgbClr val="7C93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4000" bIns="4000"/>
          <a:lstStyle/>
          <a:p>
            <a:pPr algn="ctr"/>
            <a:r>
              <a:rPr sz="850" b="0">
                <a:solidFill>
                  <a:srgbClr val="2B2A28"/>
                </a:solidFill>
                <a:latin typeface="Malgun Gothic"/>
              </a:rPr>
              <a:t>자기주식 취득·처분·신탁 결정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2011680" y="2017667"/>
            <a:ext cx="3520440" cy="251460"/>
          </a:xfrm>
          <a:prstGeom prst="roundRect">
            <a:avLst/>
          </a:prstGeom>
          <a:solidFill>
            <a:srgbClr val="DEE6EC"/>
          </a:solidFill>
          <a:ln w="12700">
            <a:solidFill>
              <a:srgbClr val="7C93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4000" bIns="4000"/>
          <a:lstStyle/>
          <a:p>
            <a:pPr algn="ctr"/>
            <a:r>
              <a:rPr sz="850" b="0">
                <a:solidFill>
                  <a:srgbClr val="2B2A28"/>
                </a:solidFill>
                <a:latin typeface="Malgun Gothic"/>
              </a:rPr>
              <a:t>유상증자·CB·BW·감자 결정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2011680" y="2381250"/>
            <a:ext cx="3520440" cy="251460"/>
          </a:xfrm>
          <a:prstGeom prst="roundRect">
            <a:avLst/>
          </a:prstGeom>
          <a:solidFill>
            <a:srgbClr val="DEE6EC"/>
          </a:solidFill>
          <a:ln w="12700">
            <a:solidFill>
              <a:srgbClr val="7C93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4000" bIns="4000"/>
          <a:lstStyle/>
          <a:p>
            <a:pPr algn="ctr"/>
            <a:r>
              <a:rPr sz="850" b="0">
                <a:solidFill>
                  <a:srgbClr val="2B2A28"/>
                </a:solidFill>
                <a:latin typeface="Malgun Gothic"/>
              </a:rPr>
              <a:t>합병·분할·주식교환 결정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2011680" y="2744832"/>
            <a:ext cx="3520440" cy="251460"/>
          </a:xfrm>
          <a:prstGeom prst="roundRect">
            <a:avLst/>
          </a:prstGeom>
          <a:solidFill>
            <a:srgbClr val="DEE6EC"/>
          </a:solidFill>
          <a:ln w="12700">
            <a:solidFill>
              <a:srgbClr val="7C93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4000" bIns="4000"/>
          <a:lstStyle/>
          <a:p>
            <a:pPr algn="ctr"/>
            <a:r>
              <a:rPr sz="850" b="0">
                <a:solidFill>
                  <a:srgbClr val="2B2A28"/>
                </a:solidFill>
                <a:latin typeface="Malgun Gothic"/>
              </a:rPr>
              <a:t>타법인주식 양수·양도 결정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2011680" y="3108415"/>
            <a:ext cx="3520440" cy="251460"/>
          </a:xfrm>
          <a:prstGeom prst="roundRect">
            <a:avLst/>
          </a:prstGeom>
          <a:solidFill>
            <a:srgbClr val="DEE6EC"/>
          </a:solidFill>
          <a:ln w="12700">
            <a:solidFill>
              <a:srgbClr val="7C93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4000" bIns="4000"/>
          <a:lstStyle/>
          <a:p>
            <a:pPr algn="ctr"/>
            <a:r>
              <a:rPr sz="850" b="0">
                <a:solidFill>
                  <a:srgbClr val="2B2A28"/>
                </a:solidFill>
                <a:latin typeface="Malgun Gothic"/>
              </a:rPr>
              <a:t>회생·부도·영업정지·해산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2011680" y="3471998"/>
            <a:ext cx="3520440" cy="251460"/>
          </a:xfrm>
          <a:prstGeom prst="roundRect">
            <a:avLst/>
          </a:prstGeom>
          <a:solidFill>
            <a:srgbClr val="DEE6EC"/>
          </a:solidFill>
          <a:ln w="12700">
            <a:solidFill>
              <a:srgbClr val="7C93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4000" bIns="4000"/>
          <a:lstStyle/>
          <a:p>
            <a:pPr algn="ctr"/>
            <a:r>
              <a:rPr sz="850" b="0">
                <a:solidFill>
                  <a:srgbClr val="2B2A28"/>
                </a:solidFill>
                <a:latin typeface="Malgun Gothic"/>
              </a:rPr>
              <a:t>주주총회 소집공고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2011680" y="3835581"/>
            <a:ext cx="3520440" cy="251460"/>
          </a:xfrm>
          <a:prstGeom prst="roundRect">
            <a:avLst/>
          </a:prstGeom>
          <a:solidFill>
            <a:srgbClr val="DEE6EC"/>
          </a:solidFill>
          <a:ln w="12700">
            <a:solidFill>
              <a:srgbClr val="7C93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4000" bIns="4000"/>
          <a:lstStyle/>
          <a:p>
            <a:pPr algn="ctr"/>
            <a:r>
              <a:rPr sz="850" b="0">
                <a:solidFill>
                  <a:srgbClr val="2B2A28"/>
                </a:solidFill>
                <a:latin typeface="Malgun Gothic"/>
              </a:rPr>
              <a:t>주주총회 결과(의결권행사)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2011680" y="4199164"/>
            <a:ext cx="3520440" cy="251460"/>
          </a:xfrm>
          <a:prstGeom prst="roundRect">
            <a:avLst/>
          </a:prstGeom>
          <a:solidFill>
            <a:srgbClr val="DEE6EC"/>
          </a:solidFill>
          <a:ln w="12700">
            <a:solidFill>
              <a:srgbClr val="7C93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4000" bIns="4000"/>
          <a:lstStyle/>
          <a:p>
            <a:pPr algn="ctr"/>
            <a:r>
              <a:rPr sz="850" b="0">
                <a:solidFill>
                  <a:srgbClr val="2B2A28"/>
                </a:solidFill>
                <a:latin typeface="Malgun Gothic"/>
              </a:rPr>
              <a:t>자기주식 결과보고서·소각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2011680" y="4562747"/>
            <a:ext cx="3520440" cy="251460"/>
          </a:xfrm>
          <a:prstGeom prst="roundRect">
            <a:avLst/>
          </a:prstGeom>
          <a:solidFill>
            <a:srgbClr val="DEE6EC"/>
          </a:solidFill>
          <a:ln w="12700">
            <a:solidFill>
              <a:srgbClr val="7C93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4000" bIns="4000"/>
          <a:lstStyle/>
          <a:p>
            <a:pPr algn="ctr"/>
            <a:r>
              <a:rPr sz="850" b="0">
                <a:solidFill>
                  <a:srgbClr val="2B2A28"/>
                </a:solidFill>
                <a:latin typeface="Malgun Gothic"/>
              </a:rPr>
              <a:t>현금·현물배당 결정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2011680" y="4926330"/>
            <a:ext cx="3520440" cy="251460"/>
          </a:xfrm>
          <a:prstGeom prst="roundRect">
            <a:avLst/>
          </a:prstGeom>
          <a:solidFill>
            <a:srgbClr val="DEE6EC"/>
          </a:solidFill>
          <a:ln w="12700">
            <a:solidFill>
              <a:srgbClr val="7C93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4000" bIns="4000"/>
          <a:lstStyle/>
          <a:p>
            <a:pPr algn="ctr"/>
            <a:r>
              <a:rPr sz="850" b="0">
                <a:solidFill>
                  <a:srgbClr val="2B2A28"/>
                </a:solidFill>
                <a:latin typeface="Malgun Gothic"/>
              </a:rPr>
              <a:t>단일판매·공급계약 체결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2011680" y="5289912"/>
            <a:ext cx="3520440" cy="251460"/>
          </a:xfrm>
          <a:prstGeom prst="roundRect">
            <a:avLst/>
          </a:prstGeom>
          <a:solidFill>
            <a:srgbClr val="DEE6EC"/>
          </a:solidFill>
          <a:ln w="12700">
            <a:solidFill>
              <a:srgbClr val="7C93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4000" bIns="4000"/>
          <a:lstStyle/>
          <a:p>
            <a:pPr algn="ctr"/>
            <a:r>
              <a:rPr sz="850" b="0">
                <a:solidFill>
                  <a:srgbClr val="2B2A28"/>
                </a:solidFill>
                <a:latin typeface="Malgun Gothic"/>
              </a:rPr>
              <a:t>기업지배구조보고서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2011680" y="5653495"/>
            <a:ext cx="3520440" cy="251460"/>
          </a:xfrm>
          <a:prstGeom prst="roundRect">
            <a:avLst/>
          </a:prstGeom>
          <a:solidFill>
            <a:srgbClr val="DEE6EC"/>
          </a:solidFill>
          <a:ln w="12700">
            <a:solidFill>
              <a:srgbClr val="7C93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4000" bIns="4000"/>
          <a:lstStyle/>
          <a:p>
            <a:pPr algn="ctr"/>
            <a:r>
              <a:rPr sz="850" b="0">
                <a:solidFill>
                  <a:srgbClr val="2B2A28"/>
                </a:solidFill>
                <a:latin typeface="Malgun Gothic"/>
              </a:rPr>
              <a:t>기업가치제고계획(밸류업)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2011680" y="6017078"/>
            <a:ext cx="3520440" cy="251460"/>
          </a:xfrm>
          <a:prstGeom prst="roundRect">
            <a:avLst/>
          </a:prstGeom>
          <a:solidFill>
            <a:srgbClr val="DEE6EC"/>
          </a:solidFill>
          <a:ln w="12700">
            <a:solidFill>
              <a:srgbClr val="7C93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4000" bIns="4000"/>
          <a:lstStyle/>
          <a:p>
            <a:pPr algn="ctr"/>
            <a:r>
              <a:rPr sz="850" b="0">
                <a:solidFill>
                  <a:srgbClr val="2B2A28"/>
                </a:solidFill>
                <a:latin typeface="Malgun Gothic"/>
              </a:rPr>
              <a:t>중대재해·횡령배임·생산중단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2011680" y="6380661"/>
            <a:ext cx="3520440" cy="251460"/>
          </a:xfrm>
          <a:prstGeom prst="roundRect">
            <a:avLst/>
          </a:prstGeom>
          <a:solidFill>
            <a:srgbClr val="DEE6EC"/>
          </a:solidFill>
          <a:ln w="12700">
            <a:solidFill>
              <a:srgbClr val="7C93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4000" bIns="4000"/>
          <a:lstStyle/>
          <a:p>
            <a:pPr algn="ctr"/>
            <a:r>
              <a:rPr sz="850" b="0">
                <a:solidFill>
                  <a:srgbClr val="2B2A28"/>
                </a:solidFill>
                <a:latin typeface="Malgun Gothic"/>
              </a:rPr>
              <a:t>경영권분쟁소송 제기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2011680" y="6744244"/>
            <a:ext cx="3520440" cy="251460"/>
          </a:xfrm>
          <a:prstGeom prst="roundRect">
            <a:avLst/>
          </a:prstGeom>
          <a:solidFill>
            <a:srgbClr val="DEE6EC"/>
          </a:solidFill>
          <a:ln w="12700">
            <a:solidFill>
              <a:srgbClr val="7C93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4000" bIns="4000"/>
          <a:lstStyle/>
          <a:p>
            <a:pPr algn="ctr"/>
            <a:r>
              <a:rPr sz="850" b="0">
                <a:solidFill>
                  <a:srgbClr val="2B2A28"/>
                </a:solidFill>
                <a:latin typeface="Malgun Gothic"/>
              </a:rPr>
              <a:t>5% 대량보유상황보고서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2011680" y="7107827"/>
            <a:ext cx="3520440" cy="251460"/>
          </a:xfrm>
          <a:prstGeom prst="roundRect">
            <a:avLst/>
          </a:prstGeom>
          <a:solidFill>
            <a:srgbClr val="DEE6EC"/>
          </a:solidFill>
          <a:ln w="12700">
            <a:solidFill>
              <a:srgbClr val="7C93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4000" bIns="4000"/>
          <a:lstStyle/>
          <a:p>
            <a:pPr algn="ctr"/>
            <a:r>
              <a:rPr sz="850" b="0">
                <a:solidFill>
                  <a:srgbClr val="2B2A28"/>
                </a:solidFill>
                <a:latin typeface="Malgun Gothic"/>
              </a:rPr>
              <a:t>최대주주 소유주식 변동신고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2011680" y="7471410"/>
            <a:ext cx="3520440" cy="251460"/>
          </a:xfrm>
          <a:prstGeom prst="roundRect">
            <a:avLst/>
          </a:prstGeom>
          <a:solidFill>
            <a:srgbClr val="DEE6EC"/>
          </a:solidFill>
          <a:ln w="12700">
            <a:solidFill>
              <a:srgbClr val="7C93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4000" bIns="4000"/>
          <a:lstStyle/>
          <a:p>
            <a:pPr algn="ctr"/>
            <a:r>
              <a:rPr sz="850" b="0">
                <a:solidFill>
                  <a:srgbClr val="2B2A28"/>
                </a:solidFill>
                <a:latin typeface="Malgun Gothic"/>
              </a:rPr>
              <a:t>의결권 대리행사 권유(위임장)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2011680" y="7834992"/>
            <a:ext cx="3520440" cy="251460"/>
          </a:xfrm>
          <a:prstGeom prst="roundRect">
            <a:avLst/>
          </a:prstGeom>
          <a:solidFill>
            <a:srgbClr val="DEE6EC"/>
          </a:solidFill>
          <a:ln w="12700">
            <a:solidFill>
              <a:srgbClr val="7C93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4000" bIns="4000"/>
          <a:lstStyle/>
          <a:p>
            <a:pPr algn="ctr"/>
            <a:r>
              <a:rPr sz="850" b="0">
                <a:solidFill>
                  <a:srgbClr val="2B2A28"/>
                </a:solidFill>
                <a:latin typeface="Malgun Gothic"/>
              </a:rPr>
              <a:t>공개매수 신고서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2011680" y="8198575"/>
            <a:ext cx="3520440" cy="251460"/>
          </a:xfrm>
          <a:prstGeom prst="roundRect">
            <a:avLst/>
          </a:prstGeom>
          <a:solidFill>
            <a:srgbClr val="DEE6EC"/>
          </a:solidFill>
          <a:ln w="12700">
            <a:solidFill>
              <a:srgbClr val="7C93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4000" bIns="4000"/>
          <a:lstStyle/>
          <a:p>
            <a:pPr algn="ctr"/>
            <a:r>
              <a:rPr sz="850" b="0">
                <a:solidFill>
                  <a:srgbClr val="2B2A28"/>
                </a:solidFill>
                <a:latin typeface="Malgun Gothic"/>
              </a:rPr>
              <a:t>전체 공시 목록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2011680" y="8562158"/>
            <a:ext cx="3520440" cy="251460"/>
          </a:xfrm>
          <a:prstGeom prst="roundRect">
            <a:avLst/>
          </a:prstGeom>
          <a:solidFill>
            <a:srgbClr val="DEE6EC"/>
          </a:solidFill>
          <a:ln w="12700">
            <a:solidFill>
              <a:srgbClr val="7C93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4000" bIns="4000"/>
          <a:lstStyle/>
          <a:p>
            <a:pPr algn="ctr"/>
            <a:r>
              <a:rPr sz="850" b="0">
                <a:solidFill>
                  <a:srgbClr val="2B2A28"/>
                </a:solidFill>
                <a:latin typeface="Malgun Gothic"/>
              </a:rPr>
              <a:t>rcept_no 메타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5760720" y="1255541"/>
            <a:ext cx="3246120" cy="251460"/>
          </a:xfrm>
          <a:prstGeom prst="roundRect">
            <a:avLst/>
          </a:prstGeom>
          <a:solidFill>
            <a:srgbClr val="E3E8D8"/>
          </a:solidFill>
          <a:ln w="12700">
            <a:solidFill>
              <a:srgbClr val="8A9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4000" bIns="4000"/>
          <a:lstStyle/>
          <a:p>
            <a:pPr algn="ctr"/>
            <a:r>
              <a:rPr sz="850" b="0">
                <a:solidFill>
                  <a:srgbClr val="2B2A28"/>
                </a:solidFill>
                <a:latin typeface="Malgun Gothic"/>
              </a:rPr>
              <a:t>재무제표(BS·IS·CF)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5760720" y="1549204"/>
            <a:ext cx="3246120" cy="251460"/>
          </a:xfrm>
          <a:prstGeom prst="roundRect">
            <a:avLst/>
          </a:prstGeom>
          <a:solidFill>
            <a:srgbClr val="E3E8D8"/>
          </a:solidFill>
          <a:ln w="12700">
            <a:solidFill>
              <a:srgbClr val="8A9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4000" bIns="4000"/>
          <a:lstStyle/>
          <a:p>
            <a:pPr algn="ctr"/>
            <a:r>
              <a:rPr sz="850" b="0">
                <a:solidFill>
                  <a:srgbClr val="2B2A28"/>
                </a:solidFill>
                <a:latin typeface="Malgun Gothic"/>
              </a:rPr>
              <a:t>감사의견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5760720" y="1842867"/>
            <a:ext cx="3246120" cy="251460"/>
          </a:xfrm>
          <a:prstGeom prst="roundRect">
            <a:avLst/>
          </a:prstGeom>
          <a:solidFill>
            <a:srgbClr val="E3E8D8"/>
          </a:solidFill>
          <a:ln w="12700">
            <a:solidFill>
              <a:srgbClr val="8A9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4000" bIns="4000"/>
          <a:lstStyle/>
          <a:p>
            <a:pPr algn="ctr"/>
            <a:r>
              <a:rPr sz="850" b="0">
                <a:solidFill>
                  <a:srgbClr val="2B2A28"/>
                </a:solidFill>
                <a:latin typeface="Malgun Gothic"/>
              </a:rPr>
              <a:t>배당에 관한 사항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5760720" y="2136530"/>
            <a:ext cx="3246120" cy="251460"/>
          </a:xfrm>
          <a:prstGeom prst="roundRect">
            <a:avLst/>
          </a:prstGeom>
          <a:solidFill>
            <a:srgbClr val="E3E8D8"/>
          </a:solidFill>
          <a:ln w="12700">
            <a:solidFill>
              <a:srgbClr val="8A9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4000" bIns="4000"/>
          <a:lstStyle/>
          <a:p>
            <a:pPr algn="ctr"/>
            <a:r>
              <a:rPr sz="850" b="0">
                <a:solidFill>
                  <a:srgbClr val="2B2A28"/>
                </a:solidFill>
                <a:latin typeface="Malgun Gothic"/>
              </a:rPr>
              <a:t>최대주주·특수관계인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5760720" y="2430193"/>
            <a:ext cx="3246120" cy="251460"/>
          </a:xfrm>
          <a:prstGeom prst="roundRect">
            <a:avLst/>
          </a:prstGeom>
          <a:solidFill>
            <a:srgbClr val="E3E8D8"/>
          </a:solidFill>
          <a:ln w="12700">
            <a:solidFill>
              <a:srgbClr val="8A9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4000" bIns="4000"/>
          <a:lstStyle/>
          <a:p>
            <a:pPr algn="ctr"/>
            <a:r>
              <a:rPr sz="850" b="0">
                <a:solidFill>
                  <a:srgbClr val="2B2A28"/>
                </a:solidFill>
                <a:latin typeface="Malgun Gothic"/>
              </a:rPr>
              <a:t>주식총수·자기주식 현황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5760720" y="2723856"/>
            <a:ext cx="3246120" cy="251460"/>
          </a:xfrm>
          <a:prstGeom prst="roundRect">
            <a:avLst/>
          </a:prstGeom>
          <a:solidFill>
            <a:srgbClr val="E3E8D8"/>
          </a:solidFill>
          <a:ln w="12700">
            <a:solidFill>
              <a:srgbClr val="8A9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4000" bIns="4000"/>
          <a:lstStyle/>
          <a:p>
            <a:pPr algn="ctr"/>
            <a:r>
              <a:rPr sz="850" b="0">
                <a:solidFill>
                  <a:srgbClr val="2B2A28"/>
                </a:solidFill>
                <a:latin typeface="Malgun Gothic"/>
              </a:rPr>
              <a:t>취득·처분·신탁 조건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5760720" y="3017520"/>
            <a:ext cx="3246120" cy="251460"/>
          </a:xfrm>
          <a:prstGeom prst="roundRect">
            <a:avLst/>
          </a:prstGeom>
          <a:solidFill>
            <a:srgbClr val="E3E8D8"/>
          </a:solidFill>
          <a:ln w="12700">
            <a:solidFill>
              <a:srgbClr val="8A9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4000" bIns="4000"/>
          <a:lstStyle/>
          <a:p>
            <a:pPr algn="ctr"/>
            <a:r>
              <a:rPr sz="850" b="0">
                <a:solidFill>
                  <a:srgbClr val="2B2A28"/>
                </a:solidFill>
                <a:latin typeface="Malgun Gothic"/>
              </a:rPr>
              <a:t>발행조건·잠재희석률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5760720" y="3311183"/>
            <a:ext cx="3246120" cy="251460"/>
          </a:xfrm>
          <a:prstGeom prst="roundRect">
            <a:avLst/>
          </a:prstGeom>
          <a:solidFill>
            <a:srgbClr val="E3E8D8"/>
          </a:solidFill>
          <a:ln w="12700">
            <a:solidFill>
              <a:srgbClr val="8A9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4000" bIns="4000"/>
          <a:lstStyle/>
          <a:p>
            <a:pPr algn="ctr"/>
            <a:r>
              <a:rPr sz="850" b="0">
                <a:solidFill>
                  <a:srgbClr val="2B2A28"/>
                </a:solidFill>
                <a:latin typeface="Malgun Gothic"/>
              </a:rPr>
              <a:t>합병비율·외부평가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5760720" y="3604846"/>
            <a:ext cx="3246120" cy="251460"/>
          </a:xfrm>
          <a:prstGeom prst="roundRect">
            <a:avLst/>
          </a:prstGeom>
          <a:solidFill>
            <a:srgbClr val="E3E8D8"/>
          </a:solidFill>
          <a:ln w="12700">
            <a:solidFill>
              <a:srgbClr val="8A9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4000" bIns="4000"/>
          <a:lstStyle/>
          <a:p>
            <a:pPr algn="ctr"/>
            <a:r>
              <a:rPr sz="850" b="0">
                <a:solidFill>
                  <a:srgbClr val="2B2A28"/>
                </a:solidFill>
                <a:latin typeface="Malgun Gothic"/>
              </a:rPr>
              <a:t>상대방·금액·자산대비%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5760720" y="3898509"/>
            <a:ext cx="3246120" cy="251460"/>
          </a:xfrm>
          <a:prstGeom prst="roundRect">
            <a:avLst/>
          </a:prstGeom>
          <a:solidFill>
            <a:srgbClr val="E3E8D8"/>
          </a:solidFill>
          <a:ln w="12700">
            <a:solidFill>
              <a:srgbClr val="8A9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4000" bIns="4000"/>
          <a:lstStyle/>
          <a:p>
            <a:pPr algn="ctr"/>
            <a:r>
              <a:rPr sz="850" b="0">
                <a:solidFill>
                  <a:srgbClr val="2B2A28"/>
                </a:solidFill>
                <a:latin typeface="Malgun Gothic"/>
              </a:rPr>
              <a:t>사유·영향(도산·정지)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5760720" y="4192172"/>
            <a:ext cx="3246120" cy="251460"/>
          </a:xfrm>
          <a:prstGeom prst="roundRect">
            <a:avLst/>
          </a:prstGeom>
          <a:solidFill>
            <a:srgbClr val="E3E8D8"/>
          </a:solidFill>
          <a:ln w="12700">
            <a:solidFill>
              <a:srgbClr val="8A9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4000" bIns="4000"/>
          <a:lstStyle/>
          <a:p>
            <a:pPr algn="ctr"/>
            <a:r>
              <a:rPr sz="850" b="0">
                <a:solidFill>
                  <a:srgbClr val="2B2A28"/>
                </a:solidFill>
                <a:latin typeface="Malgun Gothic"/>
              </a:rPr>
              <a:t>안건·이사후보·보수한도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5760720" y="4485835"/>
            <a:ext cx="3246120" cy="251460"/>
          </a:xfrm>
          <a:prstGeom prst="roundRect">
            <a:avLst/>
          </a:prstGeom>
          <a:solidFill>
            <a:srgbClr val="E3E8D8"/>
          </a:solidFill>
          <a:ln w="12700">
            <a:solidFill>
              <a:srgbClr val="8A9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4000" bIns="4000"/>
          <a:lstStyle/>
          <a:p>
            <a:pPr algn="ctr"/>
            <a:r>
              <a:rPr sz="850" b="0">
                <a:solidFill>
                  <a:srgbClr val="2B2A28"/>
                </a:solidFill>
                <a:latin typeface="Malgun Gothic"/>
              </a:rPr>
              <a:t>안건별 가결/부결·찬반율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5760720" y="4779498"/>
            <a:ext cx="3246120" cy="251460"/>
          </a:xfrm>
          <a:prstGeom prst="roundRect">
            <a:avLst/>
          </a:prstGeom>
          <a:solidFill>
            <a:srgbClr val="E3E8D8"/>
          </a:solidFill>
          <a:ln w="12700">
            <a:solidFill>
              <a:srgbClr val="8A9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4000" bIns="4000"/>
          <a:lstStyle/>
          <a:p>
            <a:pPr algn="ctr"/>
            <a:r>
              <a:rPr sz="850" b="0">
                <a:solidFill>
                  <a:srgbClr val="2B2A28"/>
                </a:solidFill>
                <a:latin typeface="Malgun Gothic"/>
              </a:rPr>
              <a:t>실제 취득·처분·소각 수량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5760720" y="5073161"/>
            <a:ext cx="3246120" cy="251460"/>
          </a:xfrm>
          <a:prstGeom prst="roundRect">
            <a:avLst/>
          </a:prstGeom>
          <a:solidFill>
            <a:srgbClr val="E3E8D8"/>
          </a:solidFill>
          <a:ln w="12700">
            <a:solidFill>
              <a:srgbClr val="8A9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4000" bIns="4000"/>
          <a:lstStyle/>
          <a:p>
            <a:pPr algn="ctr"/>
            <a:r>
              <a:rPr sz="850" b="0">
                <a:solidFill>
                  <a:srgbClr val="2B2A28"/>
                </a:solidFill>
                <a:latin typeface="Malgun Gothic"/>
              </a:rPr>
              <a:t>DPS·배당총액·기준일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5760720" y="5366824"/>
            <a:ext cx="3246120" cy="251460"/>
          </a:xfrm>
          <a:prstGeom prst="roundRect">
            <a:avLst/>
          </a:prstGeom>
          <a:solidFill>
            <a:srgbClr val="E3E8D8"/>
          </a:solidFill>
          <a:ln w="12700">
            <a:solidFill>
              <a:srgbClr val="8A9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4000" bIns="4000"/>
          <a:lstStyle/>
          <a:p>
            <a:pPr algn="ctr"/>
            <a:r>
              <a:rPr sz="850" b="0">
                <a:solidFill>
                  <a:srgbClr val="2B2A28"/>
                </a:solidFill>
                <a:latin typeface="Malgun Gothic"/>
              </a:rPr>
              <a:t>계약금액·매출대비%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5760720" y="5660487"/>
            <a:ext cx="3246120" cy="251460"/>
          </a:xfrm>
          <a:prstGeom prst="roundRect">
            <a:avLst/>
          </a:prstGeom>
          <a:solidFill>
            <a:srgbClr val="E3E8D8"/>
          </a:solidFill>
          <a:ln w="12700">
            <a:solidFill>
              <a:srgbClr val="8A9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4000" bIns="4000"/>
          <a:lstStyle/>
          <a:p>
            <a:pPr algn="ctr"/>
            <a:r>
              <a:rPr sz="850" b="0">
                <a:solidFill>
                  <a:srgbClr val="2B2A28"/>
                </a:solidFill>
                <a:latin typeface="Malgun Gothic"/>
              </a:rPr>
              <a:t>15개 지표 준수율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5760720" y="5954150"/>
            <a:ext cx="3246120" cy="251460"/>
          </a:xfrm>
          <a:prstGeom prst="roundRect">
            <a:avLst/>
          </a:prstGeom>
          <a:solidFill>
            <a:srgbClr val="E3E8D8"/>
          </a:solidFill>
          <a:ln w="12700">
            <a:solidFill>
              <a:srgbClr val="8A9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4000" bIns="4000"/>
          <a:lstStyle/>
          <a:p>
            <a:pPr algn="ctr"/>
            <a:r>
              <a:rPr sz="850" b="0">
                <a:solidFill>
                  <a:srgbClr val="2B2A28"/>
                </a:solidFill>
                <a:latin typeface="Malgun Gothic"/>
              </a:rPr>
              <a:t>commitment·이행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5760720" y="6247813"/>
            <a:ext cx="3246120" cy="251460"/>
          </a:xfrm>
          <a:prstGeom prst="roundRect">
            <a:avLst/>
          </a:prstGeom>
          <a:solidFill>
            <a:srgbClr val="E3E8D8"/>
          </a:solidFill>
          <a:ln w="12700">
            <a:solidFill>
              <a:srgbClr val="8A9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4000" bIns="4000"/>
          <a:lstStyle/>
          <a:p>
            <a:pPr algn="ctr"/>
            <a:r>
              <a:rPr sz="850" b="0">
                <a:solidFill>
                  <a:srgbClr val="2B2A28"/>
                </a:solidFill>
                <a:latin typeface="Malgun Gothic"/>
              </a:rPr>
              <a:t>사상자·혐의금액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5760720" y="6541476"/>
            <a:ext cx="3246120" cy="251460"/>
          </a:xfrm>
          <a:prstGeom prst="roundRect">
            <a:avLst/>
          </a:prstGeom>
          <a:solidFill>
            <a:srgbClr val="E3E8D8"/>
          </a:solidFill>
          <a:ln w="12700">
            <a:solidFill>
              <a:srgbClr val="8A9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4000" bIns="4000"/>
          <a:lstStyle/>
          <a:p>
            <a:pPr algn="ctr"/>
            <a:r>
              <a:rPr sz="850" b="0">
                <a:solidFill>
                  <a:srgbClr val="2B2A28"/>
                </a:solidFill>
                <a:latin typeface="Malgun Gothic"/>
              </a:rPr>
              <a:t>소송 단계·당사자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5760720" y="6835139"/>
            <a:ext cx="3246120" cy="251460"/>
          </a:xfrm>
          <a:prstGeom prst="roundRect">
            <a:avLst/>
          </a:prstGeom>
          <a:solidFill>
            <a:srgbClr val="E3E8D8"/>
          </a:solidFill>
          <a:ln w="12700">
            <a:solidFill>
              <a:srgbClr val="8A9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4000" bIns="4000"/>
          <a:lstStyle/>
          <a:p>
            <a:pPr algn="ctr"/>
            <a:r>
              <a:rPr sz="850" b="0">
                <a:solidFill>
                  <a:srgbClr val="2B2A28"/>
                </a:solidFill>
                <a:latin typeface="Malgun Gothic"/>
              </a:rPr>
              <a:t>공동보유자 분해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5760720" y="7128803"/>
            <a:ext cx="3246120" cy="251460"/>
          </a:xfrm>
          <a:prstGeom prst="roundRect">
            <a:avLst/>
          </a:prstGeom>
          <a:solidFill>
            <a:srgbClr val="E3E8D8"/>
          </a:solidFill>
          <a:ln w="12700">
            <a:solidFill>
              <a:srgbClr val="8A9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4000" bIns="4000"/>
          <a:lstStyle/>
          <a:p>
            <a:pPr algn="ctr"/>
            <a:r>
              <a:rPr sz="850" b="0">
                <a:solidFill>
                  <a:srgbClr val="2B2A28"/>
                </a:solidFill>
                <a:latin typeface="Malgun Gothic"/>
              </a:rPr>
              <a:t>5% 동학(매집·목적)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5760720" y="7422466"/>
            <a:ext cx="3246120" cy="251460"/>
          </a:xfrm>
          <a:prstGeom prst="roundRect">
            <a:avLst/>
          </a:prstGeom>
          <a:solidFill>
            <a:srgbClr val="E3E8D8"/>
          </a:solidFill>
          <a:ln w="12700">
            <a:solidFill>
              <a:srgbClr val="8A9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4000" bIns="4000"/>
          <a:lstStyle/>
          <a:p>
            <a:pPr algn="ctr"/>
            <a:r>
              <a:rPr sz="850" b="0">
                <a:solidFill>
                  <a:srgbClr val="2B2A28"/>
                </a:solidFill>
                <a:latin typeface="Malgun Gothic"/>
              </a:rPr>
              <a:t>최대주주 지분 변동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5760720" y="7716129"/>
            <a:ext cx="3246120" cy="251460"/>
          </a:xfrm>
          <a:prstGeom prst="roundRect">
            <a:avLst/>
          </a:prstGeom>
          <a:solidFill>
            <a:srgbClr val="E3E8D8"/>
          </a:solidFill>
          <a:ln w="12700">
            <a:solidFill>
              <a:srgbClr val="8A9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4000" bIns="4000"/>
          <a:lstStyle/>
          <a:p>
            <a:pPr algn="ctr"/>
            <a:r>
              <a:rPr sz="850" b="0">
                <a:solidFill>
                  <a:srgbClr val="2B2A28"/>
                </a:solidFill>
                <a:latin typeface="Malgun Gothic"/>
              </a:rPr>
              <a:t>위임장 권유 내역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5760720" y="8009792"/>
            <a:ext cx="3246120" cy="251460"/>
          </a:xfrm>
          <a:prstGeom prst="roundRect">
            <a:avLst/>
          </a:prstGeom>
          <a:solidFill>
            <a:srgbClr val="E3E8D8"/>
          </a:solidFill>
          <a:ln w="12700">
            <a:solidFill>
              <a:srgbClr val="8A9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4000" bIns="4000"/>
          <a:lstStyle/>
          <a:p>
            <a:pPr algn="ctr"/>
            <a:r>
              <a:rPr sz="850" b="0">
                <a:solidFill>
                  <a:srgbClr val="2B2A28"/>
                </a:solidFill>
                <a:latin typeface="Malgun Gothic"/>
              </a:rPr>
              <a:t>공개매수 조건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5760720" y="8303455"/>
            <a:ext cx="3246120" cy="251460"/>
          </a:xfrm>
          <a:prstGeom prst="roundRect">
            <a:avLst/>
          </a:prstGeom>
          <a:solidFill>
            <a:srgbClr val="E3E8D8"/>
          </a:solidFill>
          <a:ln w="12700">
            <a:solidFill>
              <a:srgbClr val="8A9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4000" bIns="4000"/>
          <a:lstStyle/>
          <a:p>
            <a:pPr algn="ctr"/>
            <a:r>
              <a:rPr sz="850" b="0">
                <a:solidFill>
                  <a:srgbClr val="2B2A28"/>
                </a:solidFill>
                <a:latin typeface="Malgun Gothic"/>
              </a:rPr>
              <a:t>회사 식별·공시 인덱스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5760720" y="8597118"/>
            <a:ext cx="3246120" cy="251460"/>
          </a:xfrm>
          <a:prstGeom prst="roundRect">
            <a:avLst/>
          </a:prstGeom>
          <a:solidFill>
            <a:srgbClr val="E3E8D8"/>
          </a:solidFill>
          <a:ln w="12700">
            <a:solidFill>
              <a:srgbClr val="8A9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4000" bIns="4000"/>
          <a:lstStyle/>
          <a:p>
            <a:pPr algn="ctr"/>
            <a:r>
              <a:rPr sz="850" b="0">
                <a:solidFill>
                  <a:srgbClr val="2B2A28"/>
                </a:solidFill>
                <a:latin typeface="Malgun Gothic"/>
              </a:rPr>
              <a:t>공시일·소스·뷰어 URL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9372600" y="1363218"/>
            <a:ext cx="3291840" cy="251460"/>
          </a:xfrm>
          <a:prstGeom prst="roundRect">
            <a:avLst/>
          </a:prstGeom>
          <a:solidFill>
            <a:srgbClr val="F1E3CA"/>
          </a:solidFill>
          <a:ln w="12700">
            <a:solidFill>
              <a:srgbClr val="C09A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4000" bIns="4000"/>
          <a:lstStyle/>
          <a:p>
            <a:pPr algn="ctr"/>
            <a:r>
              <a:rPr sz="850" b="1">
                <a:solidFill>
                  <a:srgbClr val="2B2A28"/>
                </a:solidFill>
                <a:latin typeface="Malgun Gothic"/>
              </a:rPr>
              <a:t>financial_metrics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9372600" y="1872234"/>
            <a:ext cx="3291840" cy="251460"/>
          </a:xfrm>
          <a:prstGeom prst="roundRect">
            <a:avLst/>
          </a:prstGeom>
          <a:solidFill>
            <a:srgbClr val="F1E3CA"/>
          </a:solidFill>
          <a:ln w="12700">
            <a:solidFill>
              <a:srgbClr val="C09A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4000" bIns="4000"/>
          <a:lstStyle/>
          <a:p>
            <a:pPr algn="ctr"/>
            <a:r>
              <a:rPr sz="850" b="1">
                <a:solidFill>
                  <a:srgbClr val="2B2A28"/>
                </a:solidFill>
                <a:latin typeface="Malgun Gothic"/>
              </a:rPr>
              <a:t>dividend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9372600" y="2381250"/>
            <a:ext cx="3291840" cy="251460"/>
          </a:xfrm>
          <a:prstGeom prst="roundRect">
            <a:avLst/>
          </a:prstGeom>
          <a:solidFill>
            <a:srgbClr val="F1E3CA"/>
          </a:solidFill>
          <a:ln w="12700">
            <a:solidFill>
              <a:srgbClr val="C09A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4000" bIns="4000"/>
          <a:lstStyle/>
          <a:p>
            <a:pPr algn="ctr"/>
            <a:r>
              <a:rPr sz="850" b="1">
                <a:solidFill>
                  <a:srgbClr val="2B2A28"/>
                </a:solidFill>
                <a:latin typeface="Malgun Gothic"/>
              </a:rPr>
              <a:t>ownership_structure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9372600" y="2890266"/>
            <a:ext cx="3291840" cy="251460"/>
          </a:xfrm>
          <a:prstGeom prst="roundRect">
            <a:avLst/>
          </a:prstGeom>
          <a:solidFill>
            <a:srgbClr val="F1E3CA"/>
          </a:solidFill>
          <a:ln w="12700">
            <a:solidFill>
              <a:srgbClr val="C09A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4000" bIns="4000"/>
          <a:lstStyle/>
          <a:p>
            <a:pPr algn="ctr"/>
            <a:r>
              <a:rPr sz="850" b="1">
                <a:solidFill>
                  <a:srgbClr val="2B2A28"/>
                </a:solidFill>
                <a:latin typeface="Malgun Gothic"/>
              </a:rPr>
              <a:t>treasury_share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9372600" y="3399282"/>
            <a:ext cx="3291840" cy="251460"/>
          </a:xfrm>
          <a:prstGeom prst="roundRect">
            <a:avLst/>
          </a:prstGeom>
          <a:solidFill>
            <a:srgbClr val="F1E3CA"/>
          </a:solidFill>
          <a:ln w="12700">
            <a:solidFill>
              <a:srgbClr val="C09A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4000" bIns="4000"/>
          <a:lstStyle/>
          <a:p>
            <a:pPr algn="ctr"/>
            <a:r>
              <a:rPr sz="850" b="1">
                <a:solidFill>
                  <a:srgbClr val="2B2A28"/>
                </a:solidFill>
                <a:latin typeface="Malgun Gothic"/>
              </a:rPr>
              <a:t>dilutive_issuance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9372600" y="3908298"/>
            <a:ext cx="3291840" cy="251460"/>
          </a:xfrm>
          <a:prstGeom prst="roundRect">
            <a:avLst/>
          </a:prstGeom>
          <a:solidFill>
            <a:srgbClr val="F1E3CA"/>
          </a:solidFill>
          <a:ln w="12700">
            <a:solidFill>
              <a:srgbClr val="C09A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4000" bIns="4000"/>
          <a:lstStyle/>
          <a:p>
            <a:pPr algn="ctr"/>
            <a:r>
              <a:rPr sz="850" b="1">
                <a:solidFill>
                  <a:srgbClr val="2B2A28"/>
                </a:solidFill>
                <a:latin typeface="Malgun Gothic"/>
              </a:rPr>
              <a:t>corporate_restructuring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9372600" y="4417314"/>
            <a:ext cx="3291840" cy="251460"/>
          </a:xfrm>
          <a:prstGeom prst="roundRect">
            <a:avLst/>
          </a:prstGeom>
          <a:solidFill>
            <a:srgbClr val="F1E3CA"/>
          </a:solidFill>
          <a:ln w="12700">
            <a:solidFill>
              <a:srgbClr val="C09A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4000" bIns="4000"/>
          <a:lstStyle/>
          <a:p>
            <a:pPr algn="ctr"/>
            <a:r>
              <a:rPr sz="850" b="1">
                <a:solidFill>
                  <a:srgbClr val="2B2A28"/>
                </a:solidFill>
                <a:latin typeface="Malgun Gothic"/>
              </a:rPr>
              <a:t>corporate_deals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9372600" y="4926330"/>
            <a:ext cx="3291840" cy="251460"/>
          </a:xfrm>
          <a:prstGeom prst="roundRect">
            <a:avLst/>
          </a:prstGeom>
          <a:solidFill>
            <a:srgbClr val="F1E3CA"/>
          </a:solidFill>
          <a:ln w="12700">
            <a:solidFill>
              <a:srgbClr val="C09A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4000" bIns="4000"/>
          <a:lstStyle/>
          <a:p>
            <a:pPr algn="ctr"/>
            <a:r>
              <a:rPr sz="850" b="1">
                <a:solidFill>
                  <a:srgbClr val="2B2A28"/>
                </a:solidFill>
                <a:latin typeface="Malgun Gothic"/>
              </a:rPr>
              <a:t>risk_events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9372600" y="5435346"/>
            <a:ext cx="3291840" cy="251460"/>
          </a:xfrm>
          <a:prstGeom prst="roundRect">
            <a:avLst/>
          </a:prstGeom>
          <a:solidFill>
            <a:srgbClr val="F1E3CA"/>
          </a:solidFill>
          <a:ln w="12700">
            <a:solidFill>
              <a:srgbClr val="C09A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4000" bIns="4000"/>
          <a:lstStyle/>
          <a:p>
            <a:pPr algn="ctr"/>
            <a:r>
              <a:rPr sz="850" b="1">
                <a:solidFill>
                  <a:srgbClr val="2B2A28"/>
                </a:solidFill>
                <a:latin typeface="Malgun Gothic"/>
              </a:rPr>
              <a:t>shareholder_meeting_notice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9372600" y="5944362"/>
            <a:ext cx="3291840" cy="251460"/>
          </a:xfrm>
          <a:prstGeom prst="roundRect">
            <a:avLst/>
          </a:prstGeom>
          <a:solidFill>
            <a:srgbClr val="F1E3CA"/>
          </a:solidFill>
          <a:ln w="12700">
            <a:solidFill>
              <a:srgbClr val="C09A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4000" bIns="4000"/>
          <a:lstStyle/>
          <a:p>
            <a:pPr algn="ctr"/>
            <a:r>
              <a:rPr sz="850" b="1">
                <a:solidFill>
                  <a:srgbClr val="2B2A28"/>
                </a:solidFill>
                <a:latin typeface="Malgun Gothic"/>
              </a:rPr>
              <a:t>shareholder_meeting_results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9372600" y="6453378"/>
            <a:ext cx="3291840" cy="251460"/>
          </a:xfrm>
          <a:prstGeom prst="roundRect">
            <a:avLst/>
          </a:prstGeom>
          <a:solidFill>
            <a:srgbClr val="F1E3CA"/>
          </a:solidFill>
          <a:ln w="12700">
            <a:solidFill>
              <a:srgbClr val="C09A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4000" bIns="4000"/>
          <a:lstStyle/>
          <a:p>
            <a:pPr algn="ctr"/>
            <a:r>
              <a:rPr sz="850" b="1">
                <a:solidFill>
                  <a:srgbClr val="2B2A28"/>
                </a:solidFill>
                <a:latin typeface="Malgun Gothic"/>
              </a:rPr>
              <a:t>order_contracts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9372600" y="6962394"/>
            <a:ext cx="3291840" cy="251460"/>
          </a:xfrm>
          <a:prstGeom prst="roundRect">
            <a:avLst/>
          </a:prstGeom>
          <a:solidFill>
            <a:srgbClr val="F1E3CA"/>
          </a:solidFill>
          <a:ln w="12700">
            <a:solidFill>
              <a:srgbClr val="C09A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4000" bIns="4000"/>
          <a:lstStyle/>
          <a:p>
            <a:pPr algn="ctr"/>
            <a:r>
              <a:rPr sz="850" b="1">
                <a:solidFill>
                  <a:srgbClr val="2B2A28"/>
                </a:solidFill>
                <a:latin typeface="Malgun Gothic"/>
              </a:rPr>
              <a:t>corp_gov_report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9372600" y="7471410"/>
            <a:ext cx="3291840" cy="251460"/>
          </a:xfrm>
          <a:prstGeom prst="roundRect">
            <a:avLst/>
          </a:prstGeom>
          <a:solidFill>
            <a:srgbClr val="F1E3CA"/>
          </a:solidFill>
          <a:ln w="12700">
            <a:solidFill>
              <a:srgbClr val="C09A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4000" bIns="4000"/>
          <a:lstStyle/>
          <a:p>
            <a:pPr algn="ctr"/>
            <a:r>
              <a:rPr sz="850" b="1">
                <a:solidFill>
                  <a:srgbClr val="2B2A28"/>
                </a:solidFill>
                <a:latin typeface="Malgun Gothic"/>
              </a:rPr>
              <a:t>value_up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9372600" y="7980426"/>
            <a:ext cx="3291840" cy="251460"/>
          </a:xfrm>
          <a:prstGeom prst="roundRect">
            <a:avLst/>
          </a:prstGeom>
          <a:solidFill>
            <a:srgbClr val="F1E3CA"/>
          </a:solidFill>
          <a:ln w="12700">
            <a:solidFill>
              <a:srgbClr val="C09A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4000" bIns="4000"/>
          <a:lstStyle/>
          <a:p>
            <a:pPr algn="ctr"/>
            <a:r>
              <a:rPr sz="850" b="1">
                <a:solidFill>
                  <a:srgbClr val="2B2A28"/>
                </a:solidFill>
                <a:latin typeface="Malgun Gothic"/>
              </a:rPr>
              <a:t>company</a:t>
            </a:r>
          </a:p>
        </p:txBody>
      </p:sp>
      <p:sp>
        <p:nvSpPr>
          <p:cNvPr id="157" name="Rounded Rectangle 156"/>
          <p:cNvSpPr/>
          <p:nvPr/>
        </p:nvSpPr>
        <p:spPr>
          <a:xfrm>
            <a:off x="9372600" y="8489442"/>
            <a:ext cx="3291840" cy="251460"/>
          </a:xfrm>
          <a:prstGeom prst="roundRect">
            <a:avLst/>
          </a:prstGeom>
          <a:solidFill>
            <a:srgbClr val="F1E3CA"/>
          </a:solidFill>
          <a:ln w="12700">
            <a:solidFill>
              <a:srgbClr val="C09A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4000" bIns="4000"/>
          <a:lstStyle/>
          <a:p>
            <a:pPr algn="ctr"/>
            <a:r>
              <a:rPr sz="850" b="1">
                <a:solidFill>
                  <a:srgbClr val="2B2A28"/>
                </a:solidFill>
                <a:latin typeface="Malgun Gothic"/>
              </a:rPr>
              <a:t>evidence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13121640" y="1353312"/>
            <a:ext cx="4069080" cy="502920"/>
          </a:xfrm>
          <a:prstGeom prst="roundRect">
            <a:avLst/>
          </a:prstGeom>
          <a:solidFill>
            <a:srgbClr val="F1E3CA"/>
          </a:solidFill>
          <a:ln w="12700">
            <a:solidFill>
              <a:srgbClr val="C09A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4000" bIns="4000"/>
          <a:lstStyle/>
          <a:p>
            <a:pPr algn="ctr"/>
            <a:r>
              <a:rPr sz="850" b="1">
                <a:solidFill>
                  <a:srgbClr val="2B2A28"/>
                </a:solidFill>
                <a:latin typeface="Malgun Gothic"/>
              </a:rPr>
              <a:t>상법 법령 레이어</a:t>
            </a:r>
          </a:p>
          <a:p>
            <a:pPr algn="ctr"/>
            <a:r>
              <a:rPr sz="850" b="0">
                <a:solidFill>
                  <a:srgbClr val="2B2A28"/>
                </a:solidFill>
                <a:latin typeface="Malgun Gothic"/>
              </a:rPr>
              <a:t>(wiki/rules/laws)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13121640" y="3429000"/>
            <a:ext cx="4069080" cy="1005840"/>
          </a:xfrm>
          <a:prstGeom prst="roundRect">
            <a:avLst/>
          </a:prstGeom>
          <a:solidFill>
            <a:srgbClr val="EFC9B8"/>
          </a:solidFill>
          <a:ln w="25400">
            <a:solidFill>
              <a:srgbClr val="CC7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4000" bIns="4000"/>
          <a:lstStyle/>
          <a:p>
            <a:pPr algn="ctr"/>
            <a:r>
              <a:rPr sz="950" b="1">
                <a:solidFill>
                  <a:srgbClr val="2B2A28"/>
                </a:solidFill>
                <a:latin typeface="Malgun Gothic"/>
              </a:rPr>
              <a:t>proxy_advise_before_meeting</a:t>
            </a:r>
          </a:p>
          <a:p>
            <a:pPr algn="ctr"/>
            <a:r>
              <a:rPr sz="800" b="0">
                <a:solidFill>
                  <a:srgbClr val="2B2A28"/>
                </a:solidFill>
                <a:latin typeface="Malgun Gothic"/>
              </a:rPr>
              <a:t>★ TOOL OF TOOLS ★</a:t>
            </a:r>
          </a:p>
          <a:p>
            <a:pPr algn="ctr"/>
            <a:r>
              <a:rPr sz="800" b="0">
                <a:solidFill>
                  <a:srgbClr val="2B2A28"/>
                </a:solidFill>
                <a:latin typeface="Malgun Gothic"/>
              </a:rPr>
              <a:t>내부: director_evaluation</a:t>
            </a:r>
          </a:p>
          <a:p>
            <a:pPr algn="ctr"/>
            <a:r>
              <a:rPr sz="800" b="0">
                <a:solidFill>
                  <a:srgbClr val="2B2A28"/>
                </a:solidFill>
                <a:latin typeface="Malgun Gothic"/>
              </a:rPr>
              <a:t>→ 안건별 의결권 권고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13121640" y="6172200"/>
            <a:ext cx="4069080" cy="868680"/>
          </a:xfrm>
          <a:prstGeom prst="roundRect">
            <a:avLst/>
          </a:prstGeom>
          <a:solidFill>
            <a:srgbClr val="EFC9B8"/>
          </a:solidFill>
          <a:ln w="25400">
            <a:solidFill>
              <a:srgbClr val="CC7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000" rIns="20000" tIns="4000" bIns="4000"/>
          <a:lstStyle/>
          <a:p>
            <a:pPr algn="ctr"/>
            <a:r>
              <a:rPr sz="950" b="1">
                <a:solidFill>
                  <a:srgbClr val="2B2A28"/>
                </a:solidFill>
                <a:latin typeface="Malgun Gothic"/>
              </a:rPr>
              <a:t>proxy_contest</a:t>
            </a:r>
          </a:p>
          <a:p>
            <a:pPr algn="ctr"/>
            <a:r>
              <a:rPr sz="800" b="0">
                <a:solidFill>
                  <a:srgbClr val="2B2A28"/>
                </a:solidFill>
                <a:latin typeface="Malgun Gothic"/>
              </a:rPr>
              <a:t>→ 경영권 분쟁 신호</a:t>
            </a:r>
          </a:p>
          <a:p>
            <a:pPr algn="ctr"/>
            <a:r>
              <a:rPr sz="800" b="0">
                <a:solidFill>
                  <a:srgbClr val="2B2A28"/>
                </a:solidFill>
                <a:latin typeface="Malgun Gothic"/>
              </a:rPr>
              <a:t>(+ 소송·위임장·공개매수·5% 공시 직접조회)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